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‹nº›</a:t>
            </a:fld>
            <a:endParaRPr spc="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‹nº›</a:t>
            </a:fld>
            <a:endParaRPr spc="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47407" y="1284795"/>
            <a:ext cx="5264785" cy="476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84315" y="1716341"/>
            <a:ext cx="4798059" cy="4268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‹nº›</a:t>
            </a:fld>
            <a:endParaRPr spc="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‹nº›</a:t>
            </a:fld>
            <a:endParaRPr spc="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‹nº›</a:t>
            </a:fld>
            <a:endParaRPr spc="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9312" y="412368"/>
            <a:ext cx="1049337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9312" y="1511617"/>
            <a:ext cx="10333990" cy="2957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1291" y="6113199"/>
            <a:ext cx="336550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‹nº›</a:t>
            </a:fld>
            <a:endParaRPr spc="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8057" y="4819332"/>
            <a:ext cx="2349500" cy="59182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00" dirty="0">
                <a:solidFill>
                  <a:srgbClr val="E7E6E6"/>
                </a:solidFill>
                <a:latin typeface="Microsoft Sans Serif"/>
                <a:cs typeface="Microsoft Sans Serif"/>
              </a:rPr>
              <a:t>Name:</a:t>
            </a:r>
            <a:r>
              <a:rPr sz="1800" spc="-20" dirty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lang="pt-BR" sz="1800" spc="-45" dirty="0">
                <a:solidFill>
                  <a:srgbClr val="E7E6E6"/>
                </a:solidFill>
                <a:latin typeface="Microsoft Sans Serif"/>
                <a:cs typeface="Microsoft Sans Serif"/>
              </a:rPr>
              <a:t>Ju</a:t>
            </a:r>
            <a:r>
              <a:rPr sz="1800" spc="-75" dirty="0">
                <a:solidFill>
                  <a:srgbClr val="E7E6E6"/>
                </a:solidFill>
                <a:latin typeface="Microsoft Sans Serif"/>
                <a:cs typeface="Microsoft Sans Serif"/>
              </a:rPr>
              <a:t>a</a:t>
            </a:r>
            <a:r>
              <a:rPr lang="pt-BR" sz="1800" spc="-75" dirty="0" err="1">
                <a:solidFill>
                  <a:srgbClr val="E7E6E6"/>
                </a:solidFill>
                <a:latin typeface="Microsoft Sans Serif"/>
                <a:cs typeface="Microsoft Sans Serif"/>
              </a:rPr>
              <a:t>rez</a:t>
            </a:r>
            <a:r>
              <a:rPr lang="pt-BR" sz="1800" spc="-75" dirty="0">
                <a:solidFill>
                  <a:srgbClr val="E7E6E6"/>
                </a:solidFill>
                <a:latin typeface="Microsoft Sans Serif"/>
                <a:cs typeface="Microsoft Sans Serif"/>
              </a:rPr>
              <a:t> Cunha</a:t>
            </a:r>
          </a:p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75" dirty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E7E6E6"/>
                </a:solidFill>
                <a:latin typeface="Microsoft Sans Serif"/>
                <a:cs typeface="Microsoft Sans Serif"/>
              </a:rPr>
              <a:t>Date:</a:t>
            </a:r>
            <a:r>
              <a:rPr sz="1800" spc="-5" dirty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lang="pt-BR" sz="1800" spc="60" dirty="0">
                <a:solidFill>
                  <a:srgbClr val="E7E6E6"/>
                </a:solidFill>
                <a:latin typeface="Microsoft Sans Serif"/>
                <a:cs typeface="Microsoft Sans Serif"/>
              </a:rPr>
              <a:t>May</a:t>
            </a:r>
            <a:r>
              <a:rPr sz="1800" spc="-35" dirty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E7E6E6"/>
                </a:solidFill>
                <a:latin typeface="Microsoft Sans Serif"/>
                <a:cs typeface="Microsoft Sans Serif"/>
              </a:rPr>
              <a:t>202</a:t>
            </a:r>
            <a:r>
              <a:rPr lang="pt-BR" sz="1800" spc="45" dirty="0">
                <a:solidFill>
                  <a:srgbClr val="E7E6E6"/>
                </a:solidFill>
                <a:latin typeface="Microsoft Sans Serif"/>
                <a:cs typeface="Microsoft Sans Serif"/>
              </a:rPr>
              <a:t>6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825" y="676275"/>
            <a:ext cx="2105025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25" y="1564703"/>
            <a:ext cx="2543175" cy="2581910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5"/>
              </a:spcBef>
              <a:buClr>
                <a:srgbClr val="292929"/>
              </a:buClr>
              <a:buFont typeface="Arial MT"/>
              <a:buChar char="•"/>
              <a:tabLst>
                <a:tab pos="240665" algn="l"/>
              </a:tabLst>
            </a:pP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Executive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Introduction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Conclusion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2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867" y="1358836"/>
            <a:ext cx="4695190" cy="4821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Summary</a:t>
            </a:r>
            <a:r>
              <a:rPr sz="1800" b="1" spc="-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of</a:t>
            </a:r>
            <a:r>
              <a:rPr sz="1800" b="1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7B7B7B"/>
                </a:solidFill>
                <a:latin typeface="Calibri"/>
                <a:cs typeface="Calibri"/>
              </a:rPr>
              <a:t>Methodologies</a:t>
            </a:r>
            <a:endParaRPr sz="1800">
              <a:latin typeface="Calibri"/>
              <a:cs typeface="Calibri"/>
            </a:endParaRPr>
          </a:p>
          <a:p>
            <a:pPr marL="12700" marR="5080" indent="170180">
              <a:lnSpc>
                <a:spcPts val="1650"/>
              </a:lnSpc>
              <a:spcBef>
                <a:spcPts val="1175"/>
              </a:spcBef>
              <a:buAutoNum type="arabicPeriod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Collection: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Accessed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SpaceX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via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API</a:t>
            </a:r>
            <a:r>
              <a:rPr sz="1400" spc="-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web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scraped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records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from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Wikipedia.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7B7B7B"/>
              </a:buClr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 marL="182880" indent="-170180">
              <a:lnSpc>
                <a:spcPct val="100000"/>
              </a:lnSpc>
              <a:buAutoNum type="arabicPeriod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Cleaning &amp;</a:t>
            </a:r>
            <a:r>
              <a:rPr sz="1400" spc="-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Preparation: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Cleaned and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formatted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 the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Stored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Db2</a:t>
            </a:r>
            <a:r>
              <a:rPr sz="1400" spc="-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database</a:t>
            </a:r>
            <a:r>
              <a:rPr sz="1400" spc="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performed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SQL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queries.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Conducted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exploratory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400">
              <a:latin typeface="Calibri"/>
              <a:cs typeface="Calibri"/>
            </a:endParaRPr>
          </a:p>
          <a:p>
            <a:pPr marL="12700" marR="122555" indent="170180">
              <a:lnSpc>
                <a:spcPct val="102800"/>
              </a:lnSpc>
              <a:buAutoNum type="arabicPeriod" startAt="3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Feature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Engineering: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Created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new</a:t>
            </a:r>
            <a:r>
              <a:rPr sz="1400" spc="-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features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standardized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Calibri"/>
              <a:buAutoNum type="arabicPeriod" startAt="3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7B7B7B"/>
              </a:buClr>
              <a:buFont typeface="Calibri"/>
              <a:buAutoNum type="arabicPeriod" startAt="3"/>
            </a:pPr>
            <a:endParaRPr sz="1400">
              <a:latin typeface="Calibri"/>
              <a:cs typeface="Calibri"/>
            </a:endParaRPr>
          </a:p>
          <a:p>
            <a:pPr marL="182880" indent="-170180">
              <a:lnSpc>
                <a:spcPct val="100000"/>
              </a:lnSpc>
              <a:buAutoNum type="arabicPeriod" startAt="3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Interactive</a:t>
            </a:r>
            <a:r>
              <a:rPr sz="1400" spc="-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Visualizations: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Mapped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sites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success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rates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using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Folium.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Built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interactive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dashboard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with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Plotly</a:t>
            </a:r>
            <a:r>
              <a:rPr sz="1400" spc="-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Dash.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3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38792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10" dirty="0"/>
              <a:t>Executive</a:t>
            </a:r>
            <a:r>
              <a:rPr spc="-90" dirty="0"/>
              <a:t> </a:t>
            </a:r>
            <a:r>
              <a:rPr spc="-140" dirty="0"/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2740" y="1425350"/>
            <a:ext cx="4712335" cy="139827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110"/>
              </a:spcBef>
              <a:buAutoNum type="arabicPeriod" startAt="5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</a:t>
            </a:r>
            <a:r>
              <a:rPr sz="1400" spc="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Building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&amp;</a:t>
            </a:r>
            <a:r>
              <a:rPr sz="1400" spc="-9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Evaluation: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Implemented</a:t>
            </a:r>
            <a:r>
              <a:rPr sz="1400" spc="-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SVM,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Decision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Trees,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K-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Nearest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Neighbors.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Tuned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hyperparameters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with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GridSearchCV.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Evaluated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using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test</a:t>
            </a:r>
            <a:r>
              <a:rPr sz="1400" spc="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accuracy.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740" y="3038411"/>
            <a:ext cx="1906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Summary</a:t>
            </a:r>
            <a:r>
              <a:rPr sz="1800" b="1" spc="-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of </a:t>
            </a:r>
            <a:r>
              <a:rPr sz="1800" b="1" spc="-10" dirty="0">
                <a:solidFill>
                  <a:srgbClr val="7B7B7B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740" y="3524821"/>
            <a:ext cx="11779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1.</a:t>
            </a:r>
            <a:r>
              <a:rPr sz="1400" spc="-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 Insights: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2740" y="4373943"/>
            <a:ext cx="16846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2.</a:t>
            </a:r>
            <a:r>
              <a:rPr sz="1400" spc="-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</a:t>
            </a:r>
            <a:r>
              <a:rPr sz="1400" spc="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Performance: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2740" y="5232653"/>
            <a:ext cx="114046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3.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Key</a:t>
            </a:r>
            <a:r>
              <a:rPr sz="1400" spc="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Findings: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2740" y="3734752"/>
            <a:ext cx="4442460" cy="21697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Identified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factors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influencing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Falcon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9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first</a:t>
            </a:r>
            <a:r>
              <a:rPr sz="1400" spc="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stage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landings.</a:t>
            </a:r>
            <a:endParaRPr sz="14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Visualized geographical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patterns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success</a:t>
            </a:r>
            <a:r>
              <a:rPr sz="1400" spc="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rates.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Clr>
                <a:srgbClr val="7B7B7B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ts val="1664"/>
              </a:lnSpc>
              <a:buFont typeface="Arial MT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SVM</a:t>
            </a:r>
            <a:r>
              <a:rPr sz="1400" spc="-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K-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Nearest</a:t>
            </a:r>
            <a:r>
              <a:rPr sz="1400" spc="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Neighbors: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83.33%</a:t>
            </a:r>
            <a:r>
              <a:rPr sz="1400" spc="-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accuracy.</a:t>
            </a: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ts val="1664"/>
              </a:lnSpc>
              <a:buFont typeface="Arial MT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Decision</a:t>
            </a:r>
            <a:r>
              <a:rPr sz="1400" spc="-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Tree: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94.44%</a:t>
            </a:r>
            <a:r>
              <a:rPr sz="1400" spc="-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accuracy.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  <a:buClr>
                <a:srgbClr val="7B7B7B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ct val="100000"/>
              </a:lnSpc>
              <a:buFont typeface="Arial MT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site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payload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mass</a:t>
            </a:r>
            <a:r>
              <a:rPr sz="1400" spc="-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impact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landing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success.</a:t>
            </a: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Decision</a:t>
            </a:r>
            <a:r>
              <a:rPr sz="1400" spc="-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Tree</a:t>
            </a:r>
            <a:r>
              <a:rPr sz="1400" spc="-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 is the</a:t>
            </a:r>
            <a:r>
              <a:rPr sz="1400" spc="-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most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effective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predictor.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4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38225" y="1376362"/>
            <a:ext cx="9719310" cy="41173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Project</a:t>
            </a:r>
            <a:r>
              <a:rPr sz="20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Background</a:t>
            </a:r>
            <a:r>
              <a:rPr sz="20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92929"/>
                </a:solidFill>
                <a:latin typeface="Calibri"/>
                <a:cs typeface="Calibri"/>
              </a:rPr>
              <a:t>Context: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ct val="100000"/>
              </a:lnSpc>
              <a:spcBef>
                <a:spcPts val="980"/>
              </a:spcBef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capstone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project,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aim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predict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stage.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advertises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significantly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lower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cost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providers,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largely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due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their ability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reuse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stage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rocket.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accurately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predicting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success,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estimate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costs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provide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valuable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20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companies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bidding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against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SpaceX.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Problems</a:t>
            </a:r>
            <a:r>
              <a:rPr sz="2000" b="1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0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Want to</a:t>
            </a:r>
            <a:r>
              <a:rPr sz="20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Find</a:t>
            </a:r>
            <a:r>
              <a:rPr sz="20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Answers</a:t>
            </a:r>
            <a:r>
              <a:rPr sz="2000" b="1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292929"/>
                </a:solidFill>
                <a:latin typeface="Calibri"/>
                <a:cs typeface="Calibri"/>
              </a:rPr>
              <a:t>To: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What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factors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influence</a:t>
            </a:r>
            <a:r>
              <a:rPr sz="20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first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stage?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How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we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accurately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predict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outcome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machine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learning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models?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machine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learning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performs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best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predicting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973559" y="6403657"/>
            <a:ext cx="1466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35" dirty="0">
                <a:solidFill>
                  <a:srgbClr val="1C7CDB"/>
                </a:solidFill>
                <a:latin typeface="Microsoft Sans Serif"/>
                <a:cs typeface="Microsoft Sans Serif"/>
              </a:rPr>
              <a:t>5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809875"/>
            <a:ext cx="1057275" cy="371475"/>
          </a:xfrm>
          <a:prstGeom prst="rect">
            <a:avLst/>
          </a:prstGeom>
          <a:solidFill>
            <a:srgbClr val="0947CA"/>
          </a:solidFill>
        </p:spPr>
        <p:txBody>
          <a:bodyPr vert="horz" wrap="square" lIns="0" tIns="3365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14716"/>
            <a:ext cx="10193655" cy="36677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75565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solidFill>
                  <a:srgbClr val="0A48CA"/>
                </a:solidFill>
                <a:latin typeface="Calibri"/>
                <a:cs typeface="Calibri"/>
              </a:rPr>
              <a:t>Executive</a:t>
            </a:r>
            <a:r>
              <a:rPr sz="1800" b="1" spc="-5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8CA"/>
                </a:solidFill>
                <a:latin typeface="Calibri"/>
                <a:cs typeface="Calibri"/>
              </a:rPr>
              <a:t>Summary:</a:t>
            </a:r>
            <a:r>
              <a:rPr sz="1800" b="1" spc="-65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project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employs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comprehensive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approach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predict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stage,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incorporating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collection,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processing,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exploratory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analysis,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interactive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visualizations,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predictive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modeling.</a:t>
            </a:r>
            <a:endParaRPr sz="1800">
              <a:latin typeface="Calibri"/>
              <a:cs typeface="Calibri"/>
            </a:endParaRPr>
          </a:p>
          <a:p>
            <a:pPr marL="12700" marR="376555">
              <a:lnSpc>
                <a:spcPts val="2110"/>
              </a:lnSpc>
              <a:spcBef>
                <a:spcPts val="1555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Collection</a:t>
            </a:r>
            <a:r>
              <a:rPr sz="18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Methodology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was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sourced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API,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provided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detailed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records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launches,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including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dates,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sites,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payloads,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outcomes.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  <a:spcBef>
                <a:spcPts val="136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b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Wrangling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cleaning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involved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handling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missing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values,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standardizing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formats,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ensuring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consistency.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Key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were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extracted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new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engineered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enrich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Exploratory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(EDA)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b="1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Visualization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SQL: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Visualized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rates,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payloads,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Matplotlib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Seaborn.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7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Executed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SQL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queries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derive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answer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questions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regarding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6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26600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14716"/>
            <a:ext cx="9855835" cy="4745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Interactive</a:t>
            </a:r>
            <a:r>
              <a:rPr sz="18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800" b="1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Analytics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Folium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Plotly</a:t>
            </a:r>
            <a:r>
              <a:rPr sz="1800" b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Dash: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Folium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create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interactive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maps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displaying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outcomes.</a:t>
            </a:r>
            <a:endParaRPr sz="1800" dirty="0">
              <a:latin typeface="Calibri"/>
              <a:cs typeface="Calibri"/>
            </a:endParaRPr>
          </a:p>
          <a:p>
            <a:pPr marL="298450" marR="5080" indent="-286385">
              <a:lnSpc>
                <a:spcPct val="100800"/>
              </a:lnSpc>
              <a:spcBef>
                <a:spcPts val="135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Developed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Plotly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Dash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application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interactive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components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like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dropdowns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sliders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analyze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rates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ranges.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Predictive</a:t>
            </a:r>
            <a:r>
              <a:rPr sz="18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Classification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Models:</a:t>
            </a:r>
            <a:endParaRPr sz="1800" dirty="0">
              <a:latin typeface="Calibri"/>
              <a:cs typeface="Calibri"/>
            </a:endParaRPr>
          </a:p>
          <a:p>
            <a:pPr marL="298450" marR="18415" indent="-286385">
              <a:lnSpc>
                <a:spcPct val="100800"/>
              </a:lnSpc>
              <a:spcBef>
                <a:spcPts val="135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evaluated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various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classification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including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Logistic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Regression,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SVM,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KNN,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Decision Trees.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7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Employed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GridSearchCV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hyperparameter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tuning.</a:t>
            </a:r>
            <a:endParaRPr sz="1800" dirty="0">
              <a:latin typeface="Calibri"/>
              <a:cs typeface="Calibri"/>
            </a:endParaRPr>
          </a:p>
          <a:p>
            <a:pPr marL="298450" marR="172720" indent="-286385">
              <a:lnSpc>
                <a:spcPct val="100800"/>
              </a:lnSpc>
              <a:spcBef>
                <a:spcPts val="142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Evaluated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accuracy,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identified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best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performing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predicting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landing success.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1800" b="1" spc="1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lang="pt-BR" sz="1800" dirty="0">
                <a:solidFill>
                  <a:srgbClr val="292929"/>
                </a:solidFill>
                <a:latin typeface="Calibri"/>
                <a:cs typeface="Calibri"/>
              </a:rPr>
              <a:t> https://github.com/JCunha13/IBM-Applied-Data-Science-Capstone/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7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26600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43672"/>
            <a:ext cx="341757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Step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1: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21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215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Request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12" y="2988881"/>
            <a:ext cx="38430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21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21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Web</a:t>
            </a:r>
            <a:r>
              <a:rPr sz="21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Scraping</a:t>
            </a:r>
            <a:r>
              <a:rPr sz="21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Wikipedia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312" y="4533963"/>
            <a:ext cx="29413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21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21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21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Integration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210" dirty="0"/>
              <a:t> </a:t>
            </a:r>
            <a:r>
              <a:rPr spc="-55" dirty="0"/>
              <a:t>Collection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722626" y="2055876"/>
            <a:ext cx="1651000" cy="660400"/>
            <a:chOff x="2722626" y="2055876"/>
            <a:chExt cx="1651000" cy="660400"/>
          </a:xfrm>
        </p:grpSpPr>
        <p:sp>
          <p:nvSpPr>
            <p:cNvPr id="7" name="object 7"/>
            <p:cNvSpPr/>
            <p:nvPr/>
          </p:nvSpPr>
          <p:spPr>
            <a:xfrm>
              <a:off x="2728976" y="2062226"/>
              <a:ext cx="1638300" cy="647700"/>
            </a:xfrm>
            <a:custGeom>
              <a:avLst/>
              <a:gdLst/>
              <a:ahLst/>
              <a:cxnLst/>
              <a:rect l="l" t="t" r="r" b="b"/>
              <a:pathLst>
                <a:path w="1638300" h="647700">
                  <a:moveTo>
                    <a:pt x="1314450" y="0"/>
                  </a:moveTo>
                  <a:lnTo>
                    <a:pt x="0" y="0"/>
                  </a:lnTo>
                  <a:lnTo>
                    <a:pt x="323723" y="323850"/>
                  </a:lnTo>
                  <a:lnTo>
                    <a:pt x="0" y="647700"/>
                  </a:lnTo>
                  <a:lnTo>
                    <a:pt x="1314450" y="647700"/>
                  </a:lnTo>
                  <a:lnTo>
                    <a:pt x="1638300" y="323850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28976" y="2062226"/>
              <a:ext cx="1638300" cy="647700"/>
            </a:xfrm>
            <a:custGeom>
              <a:avLst/>
              <a:gdLst/>
              <a:ahLst/>
              <a:cxnLst/>
              <a:rect l="l" t="t" r="r" b="b"/>
              <a:pathLst>
                <a:path w="1638300" h="647700">
                  <a:moveTo>
                    <a:pt x="0" y="0"/>
                  </a:moveTo>
                  <a:lnTo>
                    <a:pt x="1314450" y="0"/>
                  </a:lnTo>
                  <a:lnTo>
                    <a:pt x="1638300" y="323850"/>
                  </a:lnTo>
                  <a:lnTo>
                    <a:pt x="1314450" y="647700"/>
                  </a:lnTo>
                  <a:lnTo>
                    <a:pt x="0" y="647700"/>
                  </a:lnTo>
                  <a:lnTo>
                    <a:pt x="323723" y="3238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99180" y="2139632"/>
            <a:ext cx="814069" cy="443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6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Initiate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API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99001" y="2055876"/>
            <a:ext cx="1641475" cy="660400"/>
            <a:chOff x="4199001" y="2055876"/>
            <a:chExt cx="1641475" cy="660400"/>
          </a:xfrm>
        </p:grpSpPr>
        <p:sp>
          <p:nvSpPr>
            <p:cNvPr id="11" name="object 11"/>
            <p:cNvSpPr/>
            <p:nvPr/>
          </p:nvSpPr>
          <p:spPr>
            <a:xfrm>
              <a:off x="420535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1304925" y="0"/>
                  </a:moveTo>
                  <a:lnTo>
                    <a:pt x="0" y="0"/>
                  </a:lnTo>
                  <a:lnTo>
                    <a:pt x="323850" y="323850"/>
                  </a:lnTo>
                  <a:lnTo>
                    <a:pt x="0" y="647700"/>
                  </a:lnTo>
                  <a:lnTo>
                    <a:pt x="1304925" y="647700"/>
                  </a:lnTo>
                  <a:lnTo>
                    <a:pt x="1628775" y="32385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0535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0" y="0"/>
                  </a:moveTo>
                  <a:lnTo>
                    <a:pt x="1304925" y="0"/>
                  </a:lnTo>
                  <a:lnTo>
                    <a:pt x="1628775" y="323850"/>
                  </a:lnTo>
                  <a:lnTo>
                    <a:pt x="1304925" y="647700"/>
                  </a:lnTo>
                  <a:lnTo>
                    <a:pt x="0" y="647700"/>
                  </a:lnTo>
                  <a:lnTo>
                    <a:pt x="323850" y="3238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63770" y="2041842"/>
            <a:ext cx="540385" cy="64389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905" algn="ctr">
              <a:lnSpc>
                <a:spcPts val="1580"/>
              </a:lnSpc>
              <a:spcBef>
                <a:spcPts val="26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Fetch Launch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65851" y="2055876"/>
            <a:ext cx="1641475" cy="660400"/>
            <a:chOff x="5665851" y="2055876"/>
            <a:chExt cx="1641475" cy="660400"/>
          </a:xfrm>
        </p:grpSpPr>
        <p:sp>
          <p:nvSpPr>
            <p:cNvPr id="15" name="object 15"/>
            <p:cNvSpPr/>
            <p:nvPr/>
          </p:nvSpPr>
          <p:spPr>
            <a:xfrm>
              <a:off x="567220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1304925" y="0"/>
                  </a:moveTo>
                  <a:lnTo>
                    <a:pt x="0" y="0"/>
                  </a:lnTo>
                  <a:lnTo>
                    <a:pt x="323850" y="323850"/>
                  </a:lnTo>
                  <a:lnTo>
                    <a:pt x="0" y="647700"/>
                  </a:lnTo>
                  <a:lnTo>
                    <a:pt x="1304925" y="647700"/>
                  </a:lnTo>
                  <a:lnTo>
                    <a:pt x="1628775" y="32385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7220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0" y="0"/>
                  </a:moveTo>
                  <a:lnTo>
                    <a:pt x="1304925" y="0"/>
                  </a:lnTo>
                  <a:lnTo>
                    <a:pt x="1628775" y="323850"/>
                  </a:lnTo>
                  <a:lnTo>
                    <a:pt x="1304925" y="647700"/>
                  </a:lnTo>
                  <a:lnTo>
                    <a:pt x="0" y="647700"/>
                  </a:lnTo>
                  <a:lnTo>
                    <a:pt x="323850" y="3238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12509" y="2139632"/>
            <a:ext cx="789305" cy="443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46685" marR="5080" indent="-133985">
              <a:lnSpc>
                <a:spcPts val="1580"/>
              </a:lnSpc>
              <a:spcBef>
                <a:spcPts val="26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1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32151" y="3589401"/>
            <a:ext cx="1641475" cy="669925"/>
            <a:chOff x="2732151" y="3589401"/>
            <a:chExt cx="1641475" cy="669925"/>
          </a:xfrm>
        </p:grpSpPr>
        <p:sp>
          <p:nvSpPr>
            <p:cNvPr id="19" name="object 19"/>
            <p:cNvSpPr/>
            <p:nvPr/>
          </p:nvSpPr>
          <p:spPr>
            <a:xfrm>
              <a:off x="27385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225"/>
                  </a:lnTo>
                  <a:lnTo>
                    <a:pt x="1300099" y="657225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385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225"/>
                  </a:lnTo>
                  <a:lnTo>
                    <a:pt x="0" y="657225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36900" y="3714432"/>
            <a:ext cx="850900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46379" marR="5080" indent="-234315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HTML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99001" y="3589401"/>
            <a:ext cx="1641475" cy="669925"/>
            <a:chOff x="4199001" y="3589401"/>
            <a:chExt cx="1641475" cy="669925"/>
          </a:xfrm>
        </p:grpSpPr>
        <p:sp>
          <p:nvSpPr>
            <p:cNvPr id="23" name="object 23"/>
            <p:cNvSpPr/>
            <p:nvPr/>
          </p:nvSpPr>
          <p:spPr>
            <a:xfrm>
              <a:off x="420535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225"/>
                  </a:lnTo>
                  <a:lnTo>
                    <a:pt x="1300099" y="657225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0535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225"/>
                  </a:lnTo>
                  <a:lnTo>
                    <a:pt x="0" y="657225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85970" y="3714432"/>
            <a:ext cx="895350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113030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1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BeautifulSoup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65851" y="3589401"/>
            <a:ext cx="1641475" cy="669925"/>
            <a:chOff x="5665851" y="3589401"/>
            <a:chExt cx="1641475" cy="669925"/>
          </a:xfrm>
        </p:grpSpPr>
        <p:sp>
          <p:nvSpPr>
            <p:cNvPr id="27" name="object 27"/>
            <p:cNvSpPr/>
            <p:nvPr/>
          </p:nvSpPr>
          <p:spPr>
            <a:xfrm>
              <a:off x="56722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225"/>
                  </a:lnTo>
                  <a:lnTo>
                    <a:pt x="1300099" y="657225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722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225"/>
                  </a:lnTo>
                  <a:lnTo>
                    <a:pt x="0" y="657225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151879" y="3714432"/>
            <a:ext cx="701675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13335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to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DataFrame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732151" y="5132451"/>
            <a:ext cx="1641475" cy="669925"/>
            <a:chOff x="2732151" y="5132451"/>
            <a:chExt cx="1641475" cy="669925"/>
          </a:xfrm>
        </p:grpSpPr>
        <p:sp>
          <p:nvSpPr>
            <p:cNvPr id="31" name="object 31"/>
            <p:cNvSpPr/>
            <p:nvPr/>
          </p:nvSpPr>
          <p:spPr>
            <a:xfrm>
              <a:off x="27385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161"/>
                  </a:lnTo>
                  <a:lnTo>
                    <a:pt x="1300099" y="657161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385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161"/>
                  </a:lnTo>
                  <a:lnTo>
                    <a:pt x="0" y="657161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98164" y="5227002"/>
            <a:ext cx="926465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135"/>
              </a:lnSpc>
              <a:spcBef>
                <a:spcPts val="12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SpaceX</a:t>
            </a:r>
            <a:r>
              <a:rPr sz="950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ts val="1090"/>
              </a:lnSpc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 Light"/>
                <a:cs typeface="Calibri Light"/>
              </a:rPr>
              <a:t>&amp;</a:t>
            </a:r>
            <a:r>
              <a:rPr sz="950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Wikipedia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ts val="1095"/>
              </a:lnSpc>
            </a:pP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99001" y="5132451"/>
            <a:ext cx="1641475" cy="669925"/>
            <a:chOff x="4199001" y="5132451"/>
            <a:chExt cx="1641475" cy="669925"/>
          </a:xfrm>
        </p:grpSpPr>
        <p:sp>
          <p:nvSpPr>
            <p:cNvPr id="35" name="object 35"/>
            <p:cNvSpPr/>
            <p:nvPr/>
          </p:nvSpPr>
          <p:spPr>
            <a:xfrm>
              <a:off x="420535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161"/>
                  </a:lnTo>
                  <a:lnTo>
                    <a:pt x="1300099" y="657161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0535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161"/>
                  </a:lnTo>
                  <a:lnTo>
                    <a:pt x="0" y="657161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610734" y="5366702"/>
            <a:ext cx="8356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Merge</a:t>
            </a:r>
            <a:r>
              <a:rPr sz="95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Datasets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65851" y="5132451"/>
            <a:ext cx="1641475" cy="669925"/>
            <a:chOff x="5665851" y="5132451"/>
            <a:chExt cx="1641475" cy="669925"/>
          </a:xfrm>
        </p:grpSpPr>
        <p:sp>
          <p:nvSpPr>
            <p:cNvPr id="39" name="object 39"/>
            <p:cNvSpPr/>
            <p:nvPr/>
          </p:nvSpPr>
          <p:spPr>
            <a:xfrm>
              <a:off x="56722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161"/>
                  </a:lnTo>
                  <a:lnTo>
                    <a:pt x="1300099" y="657161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722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161"/>
                  </a:lnTo>
                  <a:lnTo>
                    <a:pt x="0" y="657161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080759" y="5296852"/>
            <a:ext cx="842010" cy="318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135"/>
              </a:lnSpc>
              <a:spcBef>
                <a:spcPts val="12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9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Integrated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ts val="1135"/>
              </a:lnSpc>
            </a:pP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8</a:t>
            </a:fld>
            <a:endParaRPr spc="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0326" y="1452562"/>
            <a:ext cx="5467350" cy="4572000"/>
          </a:xfrm>
          <a:custGeom>
            <a:avLst/>
            <a:gdLst/>
            <a:ahLst/>
            <a:cxnLst/>
            <a:rect l="l" t="t" r="r" b="b"/>
            <a:pathLst>
              <a:path w="5467350" h="4572000">
                <a:moveTo>
                  <a:pt x="0" y="4572000"/>
                </a:moveTo>
                <a:lnTo>
                  <a:pt x="5467350" y="4572000"/>
                </a:lnTo>
                <a:lnTo>
                  <a:pt x="5467350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ln w="9525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49947" y="1446212"/>
            <a:ext cx="20307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400" b="1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4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Initiate</a:t>
            </a:r>
            <a:r>
              <a:rPr sz="14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1400" b="1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Request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464" y="1703641"/>
            <a:ext cx="4031615" cy="6915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029" marR="293370" indent="-227965">
              <a:lnSpc>
                <a:spcPts val="1500"/>
              </a:lnSpc>
              <a:spcBef>
                <a:spcPts val="325"/>
              </a:spcBef>
              <a:buFont typeface="Courier New"/>
              <a:buChar char="o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Python's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`requests`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library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connect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API.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0"/>
              </a:spcBef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Endpoint: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`https://api.spacexdata.com/v4/launches`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9947" y="2791142"/>
            <a:ext cx="20110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400" b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4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Parse</a:t>
            </a:r>
            <a:r>
              <a:rPr sz="14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14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Response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7464" y="3048698"/>
            <a:ext cx="3660775" cy="882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0665" indent="-227965">
              <a:lnSpc>
                <a:spcPts val="1590"/>
              </a:lnSpc>
              <a:spcBef>
                <a:spcPts val="125"/>
              </a:spcBef>
              <a:buFont typeface="Courier New"/>
              <a:buChar char="o"/>
              <a:tabLst>
                <a:tab pos="240665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response</a:t>
            </a:r>
            <a:r>
              <a:rPr sz="14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JSON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40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0"/>
              </a:lnSpc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dictionary.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ts val="1590"/>
              </a:lnSpc>
              <a:spcBef>
                <a:spcPts val="350"/>
              </a:spcBef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relevant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fields: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date,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site,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0"/>
              </a:lnSpc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mass,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type,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outcome.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947" y="4285924"/>
            <a:ext cx="4368800" cy="7994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400" b="1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14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Store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 Data</a:t>
            </a:r>
            <a:r>
              <a:rPr sz="14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Locally</a:t>
            </a:r>
            <a:endParaRPr sz="14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350"/>
              </a:spcBef>
              <a:buFont typeface="Courier New"/>
              <a:buChar char="o"/>
              <a:tabLst>
                <a:tab pos="69786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Save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extracted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pandas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DataFrame.</a:t>
            </a:r>
            <a:endParaRPr sz="14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350"/>
              </a:spcBef>
              <a:buFont typeface="Courier New"/>
              <a:buChar char="o"/>
              <a:tabLst>
                <a:tab pos="697865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Store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DataFrame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locally</a:t>
            </a:r>
            <a:r>
              <a:rPr sz="14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further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processing.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9947" y="5623877"/>
            <a:ext cx="43878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14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sz="140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1.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jupyter-labs-spacex-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data-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collection-api.ipynb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58572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80" dirty="0"/>
              <a:t> </a:t>
            </a:r>
            <a:r>
              <a:rPr spc="-35" dirty="0"/>
              <a:t>Collection</a:t>
            </a:r>
            <a:r>
              <a:rPr spc="-40" dirty="0"/>
              <a:t> </a:t>
            </a:r>
            <a:r>
              <a:rPr spc="760" dirty="0"/>
              <a:t>–</a:t>
            </a:r>
            <a:r>
              <a:rPr spc="-50" dirty="0"/>
              <a:t> </a:t>
            </a:r>
            <a:r>
              <a:rPr spc="-200" dirty="0"/>
              <a:t>SpaceX</a:t>
            </a:r>
            <a:r>
              <a:rPr spc="-45" dirty="0"/>
              <a:t> </a:t>
            </a:r>
            <a:r>
              <a:rPr spc="-145" dirty="0"/>
              <a:t>API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6599301" y="1465325"/>
            <a:ext cx="1765300" cy="1060450"/>
            <a:chOff x="6599301" y="1465325"/>
            <a:chExt cx="1765300" cy="1060450"/>
          </a:xfrm>
        </p:grpSpPr>
        <p:sp>
          <p:nvSpPr>
            <p:cNvPr id="11" name="object 11"/>
            <p:cNvSpPr/>
            <p:nvPr/>
          </p:nvSpPr>
          <p:spPr>
            <a:xfrm>
              <a:off x="660565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0565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84644" y="1897634"/>
            <a:ext cx="16033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Initiate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9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(requests.get)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505825" y="1465325"/>
            <a:ext cx="2316480" cy="1060450"/>
            <a:chOff x="8505825" y="1465325"/>
            <a:chExt cx="2316480" cy="1060450"/>
          </a:xfrm>
        </p:grpSpPr>
        <p:sp>
          <p:nvSpPr>
            <p:cNvPr id="15" name="object 15"/>
            <p:cNvSpPr/>
            <p:nvPr/>
          </p:nvSpPr>
          <p:spPr>
            <a:xfrm>
              <a:off x="8505825" y="1771649"/>
              <a:ext cx="371475" cy="438150"/>
            </a:xfrm>
            <a:custGeom>
              <a:avLst/>
              <a:gdLst/>
              <a:ahLst/>
              <a:cxnLst/>
              <a:rect l="l" t="t" r="r" b="b"/>
              <a:pathLst>
                <a:path w="371475" h="438150">
                  <a:moveTo>
                    <a:pt x="185800" y="0"/>
                  </a:moveTo>
                  <a:lnTo>
                    <a:pt x="185800" y="87629"/>
                  </a:lnTo>
                  <a:lnTo>
                    <a:pt x="0" y="87629"/>
                  </a:lnTo>
                  <a:lnTo>
                    <a:pt x="0" y="350520"/>
                  </a:lnTo>
                  <a:lnTo>
                    <a:pt x="185800" y="350520"/>
                  </a:lnTo>
                  <a:lnTo>
                    <a:pt x="185800" y="438150"/>
                  </a:lnTo>
                  <a:lnTo>
                    <a:pt x="371475" y="219075"/>
                  </a:lnTo>
                  <a:lnTo>
                    <a:pt x="1858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6310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6310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170669" y="1834896"/>
            <a:ext cx="1553210" cy="2870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275" marR="5080" indent="-41275">
              <a:lnSpc>
                <a:spcPts val="980"/>
              </a:lnSpc>
              <a:spcBef>
                <a:spcPts val="215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Fetch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Launch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(launch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dates,</a:t>
            </a:r>
            <a:r>
              <a:rPr sz="9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sites,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payloads,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outcomes,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etc.)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056751" y="2667000"/>
            <a:ext cx="1765300" cy="1611630"/>
            <a:chOff x="9056751" y="2667000"/>
            <a:chExt cx="1765300" cy="1611630"/>
          </a:xfrm>
        </p:grpSpPr>
        <p:sp>
          <p:nvSpPr>
            <p:cNvPr id="20" name="object 20"/>
            <p:cNvSpPr/>
            <p:nvPr/>
          </p:nvSpPr>
          <p:spPr>
            <a:xfrm>
              <a:off x="9715500" y="2667000"/>
              <a:ext cx="438150" cy="371475"/>
            </a:xfrm>
            <a:custGeom>
              <a:avLst/>
              <a:gdLst/>
              <a:ahLst/>
              <a:cxnLst/>
              <a:rect l="l" t="t" r="r" b="b"/>
              <a:pathLst>
                <a:path w="438150" h="371475">
                  <a:moveTo>
                    <a:pt x="350520" y="0"/>
                  </a:moveTo>
                  <a:lnTo>
                    <a:pt x="87629" y="0"/>
                  </a:lnTo>
                  <a:lnTo>
                    <a:pt x="87629" y="185800"/>
                  </a:lnTo>
                  <a:lnTo>
                    <a:pt x="0" y="185800"/>
                  </a:lnTo>
                  <a:lnTo>
                    <a:pt x="219075" y="371475"/>
                  </a:lnTo>
                  <a:lnTo>
                    <a:pt x="438150" y="185800"/>
                  </a:lnTo>
                  <a:lnTo>
                    <a:pt x="350520" y="185800"/>
                  </a:lnTo>
                  <a:lnTo>
                    <a:pt x="3505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6310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6310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311258" y="3592829"/>
            <a:ext cx="1266190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9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JSON</a:t>
            </a:r>
            <a:endParaRPr sz="900">
              <a:latin typeface="Calibri"/>
              <a:cs typeface="Calibri"/>
            </a:endParaRPr>
          </a:p>
          <a:p>
            <a:pPr marR="5080" algn="ctr">
              <a:lnSpc>
                <a:spcPts val="103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r>
              <a:rPr sz="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(response.json())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99301" y="3217926"/>
            <a:ext cx="2297430" cy="1060450"/>
            <a:chOff x="6599301" y="3217926"/>
            <a:chExt cx="2297430" cy="1060450"/>
          </a:xfrm>
        </p:grpSpPr>
        <p:sp>
          <p:nvSpPr>
            <p:cNvPr id="25" name="object 25"/>
            <p:cNvSpPr/>
            <p:nvPr/>
          </p:nvSpPr>
          <p:spPr>
            <a:xfrm>
              <a:off x="8524875" y="3524250"/>
              <a:ext cx="371475" cy="438150"/>
            </a:xfrm>
            <a:custGeom>
              <a:avLst/>
              <a:gdLst/>
              <a:ahLst/>
              <a:cxnLst/>
              <a:rect l="l" t="t" r="r" b="b"/>
              <a:pathLst>
                <a:path w="371475" h="438150">
                  <a:moveTo>
                    <a:pt x="185800" y="0"/>
                  </a:moveTo>
                  <a:lnTo>
                    <a:pt x="0" y="219075"/>
                  </a:lnTo>
                  <a:lnTo>
                    <a:pt x="185800" y="438150"/>
                  </a:lnTo>
                  <a:lnTo>
                    <a:pt x="185800" y="350519"/>
                  </a:lnTo>
                  <a:lnTo>
                    <a:pt x="371475" y="350519"/>
                  </a:lnTo>
                  <a:lnTo>
                    <a:pt x="371475" y="87630"/>
                  </a:lnTo>
                  <a:lnTo>
                    <a:pt x="185800" y="87630"/>
                  </a:lnTo>
                  <a:lnTo>
                    <a:pt x="1858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0565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0565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694551" y="3592829"/>
            <a:ext cx="1584325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9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Fields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(date,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site,</a:t>
            </a:r>
            <a:endParaRPr sz="900">
              <a:latin typeface="Calibri"/>
              <a:cs typeface="Calibri"/>
            </a:endParaRPr>
          </a:p>
          <a:p>
            <a:pPr marR="9525" algn="ctr">
              <a:lnSpc>
                <a:spcPts val="103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payload,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rocket,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outcome)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599301" y="4429125"/>
            <a:ext cx="1765300" cy="1611630"/>
            <a:chOff x="6599301" y="4429125"/>
            <a:chExt cx="1765300" cy="1611630"/>
          </a:xfrm>
        </p:grpSpPr>
        <p:sp>
          <p:nvSpPr>
            <p:cNvPr id="30" name="object 30"/>
            <p:cNvSpPr/>
            <p:nvPr/>
          </p:nvSpPr>
          <p:spPr>
            <a:xfrm>
              <a:off x="7258050" y="4429125"/>
              <a:ext cx="438150" cy="371475"/>
            </a:xfrm>
            <a:custGeom>
              <a:avLst/>
              <a:gdLst/>
              <a:ahLst/>
              <a:cxnLst/>
              <a:rect l="l" t="t" r="r" b="b"/>
              <a:pathLst>
                <a:path w="438150" h="371475">
                  <a:moveTo>
                    <a:pt x="350520" y="0"/>
                  </a:moveTo>
                  <a:lnTo>
                    <a:pt x="87629" y="0"/>
                  </a:lnTo>
                  <a:lnTo>
                    <a:pt x="87629" y="185800"/>
                  </a:lnTo>
                  <a:lnTo>
                    <a:pt x="0" y="185800"/>
                  </a:lnTo>
                  <a:lnTo>
                    <a:pt x="219075" y="371475"/>
                  </a:lnTo>
                  <a:lnTo>
                    <a:pt x="438150" y="185800"/>
                  </a:lnTo>
                  <a:lnTo>
                    <a:pt x="350520" y="185800"/>
                  </a:lnTo>
                  <a:lnTo>
                    <a:pt x="3505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0565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1646808" y="0"/>
                  </a:moveTo>
                  <a:lnTo>
                    <a:pt x="105664" y="0"/>
                  </a:lnTo>
                  <a:lnTo>
                    <a:pt x="64508" y="8294"/>
                  </a:lnTo>
                  <a:lnTo>
                    <a:pt x="30924" y="30924"/>
                  </a:lnTo>
                  <a:lnTo>
                    <a:pt x="8294" y="64508"/>
                  </a:lnTo>
                  <a:lnTo>
                    <a:pt x="0" y="105663"/>
                  </a:lnTo>
                  <a:lnTo>
                    <a:pt x="0" y="951484"/>
                  </a:lnTo>
                  <a:lnTo>
                    <a:pt x="8294" y="992639"/>
                  </a:lnTo>
                  <a:lnTo>
                    <a:pt x="30924" y="1026245"/>
                  </a:lnTo>
                  <a:lnTo>
                    <a:pt x="64508" y="1048903"/>
                  </a:lnTo>
                  <a:lnTo>
                    <a:pt x="105664" y="1057211"/>
                  </a:lnTo>
                  <a:lnTo>
                    <a:pt x="1646808" y="1057211"/>
                  </a:lnTo>
                  <a:lnTo>
                    <a:pt x="1687984" y="1048903"/>
                  </a:lnTo>
                  <a:lnTo>
                    <a:pt x="1721611" y="1026245"/>
                  </a:lnTo>
                  <a:lnTo>
                    <a:pt x="1744285" y="992639"/>
                  </a:lnTo>
                  <a:lnTo>
                    <a:pt x="1752600" y="951484"/>
                  </a:lnTo>
                  <a:lnTo>
                    <a:pt x="1752600" y="105663"/>
                  </a:lnTo>
                  <a:lnTo>
                    <a:pt x="1744285" y="64508"/>
                  </a:lnTo>
                  <a:lnTo>
                    <a:pt x="1721611" y="30924"/>
                  </a:lnTo>
                  <a:lnTo>
                    <a:pt x="1687984" y="8294"/>
                  </a:lnTo>
                  <a:lnTo>
                    <a:pt x="16468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0565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0" y="105663"/>
                  </a:moveTo>
                  <a:lnTo>
                    <a:pt x="8294" y="64508"/>
                  </a:lnTo>
                  <a:lnTo>
                    <a:pt x="30924" y="30924"/>
                  </a:lnTo>
                  <a:lnTo>
                    <a:pt x="64508" y="8294"/>
                  </a:lnTo>
                  <a:lnTo>
                    <a:pt x="105664" y="0"/>
                  </a:lnTo>
                  <a:lnTo>
                    <a:pt x="1646808" y="0"/>
                  </a:lnTo>
                  <a:lnTo>
                    <a:pt x="1687984" y="8294"/>
                  </a:lnTo>
                  <a:lnTo>
                    <a:pt x="1721611" y="30924"/>
                  </a:lnTo>
                  <a:lnTo>
                    <a:pt x="1744285" y="64508"/>
                  </a:lnTo>
                  <a:lnTo>
                    <a:pt x="1752600" y="105663"/>
                  </a:lnTo>
                  <a:lnTo>
                    <a:pt x="1752600" y="951484"/>
                  </a:lnTo>
                  <a:lnTo>
                    <a:pt x="1744285" y="992639"/>
                  </a:lnTo>
                  <a:lnTo>
                    <a:pt x="1721611" y="1026245"/>
                  </a:lnTo>
                  <a:lnTo>
                    <a:pt x="1687984" y="1048903"/>
                  </a:lnTo>
                  <a:lnTo>
                    <a:pt x="1646808" y="1057211"/>
                  </a:lnTo>
                  <a:lnTo>
                    <a:pt x="105664" y="1057211"/>
                  </a:lnTo>
                  <a:lnTo>
                    <a:pt x="64508" y="1048903"/>
                  </a:lnTo>
                  <a:lnTo>
                    <a:pt x="30924" y="1026245"/>
                  </a:lnTo>
                  <a:lnTo>
                    <a:pt x="8294" y="992639"/>
                  </a:lnTo>
                  <a:lnTo>
                    <a:pt x="0" y="951484"/>
                  </a:lnTo>
                  <a:lnTo>
                    <a:pt x="0" y="10566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736715" y="5350192"/>
            <a:ext cx="1499235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Store Data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900">
              <a:latin typeface="Calibri"/>
              <a:cs typeface="Calibri"/>
            </a:endParaRPr>
          </a:p>
          <a:p>
            <a:pPr marR="5080" algn="ctr">
              <a:lnSpc>
                <a:spcPts val="103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DataFrame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(pandas.DataFrame)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505825" y="4970526"/>
            <a:ext cx="2316480" cy="1069975"/>
            <a:chOff x="8505825" y="4970526"/>
            <a:chExt cx="2316480" cy="1069975"/>
          </a:xfrm>
        </p:grpSpPr>
        <p:sp>
          <p:nvSpPr>
            <p:cNvPr id="35" name="object 35"/>
            <p:cNvSpPr/>
            <p:nvPr/>
          </p:nvSpPr>
          <p:spPr>
            <a:xfrm>
              <a:off x="8505825" y="5286375"/>
              <a:ext cx="371475" cy="428625"/>
            </a:xfrm>
            <a:custGeom>
              <a:avLst/>
              <a:gdLst/>
              <a:ahLst/>
              <a:cxnLst/>
              <a:rect l="l" t="t" r="r" b="b"/>
              <a:pathLst>
                <a:path w="371475" h="428625">
                  <a:moveTo>
                    <a:pt x="185800" y="0"/>
                  </a:moveTo>
                  <a:lnTo>
                    <a:pt x="185800" y="85725"/>
                  </a:lnTo>
                  <a:lnTo>
                    <a:pt x="0" y="85725"/>
                  </a:lnTo>
                  <a:lnTo>
                    <a:pt x="0" y="342900"/>
                  </a:lnTo>
                  <a:lnTo>
                    <a:pt x="185800" y="342900"/>
                  </a:lnTo>
                  <a:lnTo>
                    <a:pt x="185800" y="428625"/>
                  </a:lnTo>
                  <a:lnTo>
                    <a:pt x="371475" y="214375"/>
                  </a:lnTo>
                  <a:lnTo>
                    <a:pt x="1858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06310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1646808" y="0"/>
                  </a:moveTo>
                  <a:lnTo>
                    <a:pt x="105664" y="0"/>
                  </a:lnTo>
                  <a:lnTo>
                    <a:pt x="64508" y="8294"/>
                  </a:lnTo>
                  <a:lnTo>
                    <a:pt x="30924" y="30924"/>
                  </a:lnTo>
                  <a:lnTo>
                    <a:pt x="8294" y="64508"/>
                  </a:lnTo>
                  <a:lnTo>
                    <a:pt x="0" y="105663"/>
                  </a:lnTo>
                  <a:lnTo>
                    <a:pt x="0" y="951484"/>
                  </a:lnTo>
                  <a:lnTo>
                    <a:pt x="8294" y="992639"/>
                  </a:lnTo>
                  <a:lnTo>
                    <a:pt x="30924" y="1026245"/>
                  </a:lnTo>
                  <a:lnTo>
                    <a:pt x="64508" y="1048903"/>
                  </a:lnTo>
                  <a:lnTo>
                    <a:pt x="105664" y="1057211"/>
                  </a:lnTo>
                  <a:lnTo>
                    <a:pt x="1646808" y="1057211"/>
                  </a:lnTo>
                  <a:lnTo>
                    <a:pt x="1687984" y="1048903"/>
                  </a:lnTo>
                  <a:lnTo>
                    <a:pt x="1721611" y="1026245"/>
                  </a:lnTo>
                  <a:lnTo>
                    <a:pt x="1744285" y="992639"/>
                  </a:lnTo>
                  <a:lnTo>
                    <a:pt x="1752600" y="951484"/>
                  </a:lnTo>
                  <a:lnTo>
                    <a:pt x="1752600" y="105663"/>
                  </a:lnTo>
                  <a:lnTo>
                    <a:pt x="1744285" y="64508"/>
                  </a:lnTo>
                  <a:lnTo>
                    <a:pt x="1721611" y="30924"/>
                  </a:lnTo>
                  <a:lnTo>
                    <a:pt x="1687984" y="8294"/>
                  </a:lnTo>
                  <a:lnTo>
                    <a:pt x="16468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06310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0" y="105663"/>
                  </a:moveTo>
                  <a:lnTo>
                    <a:pt x="8294" y="64508"/>
                  </a:lnTo>
                  <a:lnTo>
                    <a:pt x="30924" y="30924"/>
                  </a:lnTo>
                  <a:lnTo>
                    <a:pt x="64508" y="8294"/>
                  </a:lnTo>
                  <a:lnTo>
                    <a:pt x="105664" y="0"/>
                  </a:lnTo>
                  <a:lnTo>
                    <a:pt x="1646808" y="0"/>
                  </a:lnTo>
                  <a:lnTo>
                    <a:pt x="1687984" y="8294"/>
                  </a:lnTo>
                  <a:lnTo>
                    <a:pt x="1721611" y="30924"/>
                  </a:lnTo>
                  <a:lnTo>
                    <a:pt x="1744285" y="64508"/>
                  </a:lnTo>
                  <a:lnTo>
                    <a:pt x="1752600" y="105663"/>
                  </a:lnTo>
                  <a:lnTo>
                    <a:pt x="1752600" y="951484"/>
                  </a:lnTo>
                  <a:lnTo>
                    <a:pt x="1744285" y="992639"/>
                  </a:lnTo>
                  <a:lnTo>
                    <a:pt x="1721611" y="1026245"/>
                  </a:lnTo>
                  <a:lnTo>
                    <a:pt x="1687984" y="1048903"/>
                  </a:lnTo>
                  <a:lnTo>
                    <a:pt x="1646808" y="1057211"/>
                  </a:lnTo>
                  <a:lnTo>
                    <a:pt x="105664" y="1057211"/>
                  </a:lnTo>
                  <a:lnTo>
                    <a:pt x="64508" y="1048903"/>
                  </a:lnTo>
                  <a:lnTo>
                    <a:pt x="30924" y="1026245"/>
                  </a:lnTo>
                  <a:lnTo>
                    <a:pt x="8294" y="992639"/>
                  </a:lnTo>
                  <a:lnTo>
                    <a:pt x="0" y="951484"/>
                  </a:lnTo>
                  <a:lnTo>
                    <a:pt x="0" y="10566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254108" y="5350192"/>
            <a:ext cx="1384935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Save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(data.csv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900">
              <a:latin typeface="Calibri"/>
              <a:cs typeface="Calibri"/>
            </a:endParaRPr>
          </a:p>
          <a:p>
            <a:pPr marR="3175" algn="ctr">
              <a:lnSpc>
                <a:spcPts val="1030"/>
              </a:lnSpc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database)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9</a:t>
            </a:fld>
            <a:endParaRPr spc="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2030" y="1448815"/>
            <a:ext cx="239331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5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Initiate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Web</a:t>
            </a:r>
            <a:r>
              <a:rPr sz="15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Scraping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030" y="1734502"/>
            <a:ext cx="4747260" cy="37001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696595" marR="511809" indent="-227329">
              <a:lnSpc>
                <a:spcPts val="1730"/>
              </a:lnSpc>
              <a:spcBef>
                <a:spcPts val="290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Python's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`requests`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library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fetch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content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Wikipedia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page.</a:t>
            </a:r>
            <a:endParaRPr sz="1550">
              <a:latin typeface="Calibri"/>
              <a:cs typeface="Calibri"/>
            </a:endParaRPr>
          </a:p>
          <a:p>
            <a:pPr marL="697230" indent="-227329">
              <a:lnSpc>
                <a:spcPts val="1795"/>
              </a:lnSpc>
              <a:spcBef>
                <a:spcPts val="355"/>
              </a:spcBef>
              <a:buFont typeface="Courier New"/>
              <a:buChar char="o"/>
              <a:tabLst>
                <a:tab pos="69723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Target</a:t>
            </a:r>
            <a:r>
              <a:rPr sz="155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endParaRPr sz="1550">
              <a:latin typeface="Calibri"/>
              <a:cs typeface="Calibri"/>
            </a:endParaRPr>
          </a:p>
          <a:p>
            <a:pPr marL="698500" marR="5080">
              <a:lnSpc>
                <a:spcPts val="1730"/>
              </a:lnSpc>
              <a:spcBef>
                <a:spcPts val="100"/>
              </a:spcBef>
            </a:pP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`https://en.wikipedia.org/wiki/List_of_Falcon_9_</a:t>
            </a:r>
            <a:r>
              <a:rPr sz="155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and_Falcon_Heavy_launches`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Parse</a:t>
            </a:r>
            <a:r>
              <a:rPr sz="15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Content</a:t>
            </a:r>
            <a:endParaRPr sz="155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395"/>
              </a:spcBef>
              <a:buFont typeface="Courier New"/>
              <a:buChar char="o"/>
              <a:tabLst>
                <a:tab pos="69723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550" spc="1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`BeautifulSoup`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parse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content.</a:t>
            </a:r>
            <a:endParaRPr sz="1550">
              <a:latin typeface="Calibri"/>
              <a:cs typeface="Calibri"/>
            </a:endParaRPr>
          </a:p>
          <a:p>
            <a:pPr marL="696595" marR="509905" indent="-227329">
              <a:lnSpc>
                <a:spcPts val="1730"/>
              </a:lnSpc>
              <a:spcBef>
                <a:spcPts val="560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table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containing</a:t>
            </a:r>
            <a:r>
              <a:rPr sz="1550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50" dirty="0">
                <a:solidFill>
                  <a:srgbClr val="292929"/>
                </a:solidFill>
                <a:latin typeface="Calibri"/>
                <a:cs typeface="Calibri"/>
              </a:rPr>
              <a:t>9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records.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DataFrame</a:t>
            </a:r>
            <a:endParaRPr sz="1550">
              <a:latin typeface="Calibri"/>
              <a:cs typeface="Calibri"/>
            </a:endParaRPr>
          </a:p>
          <a:p>
            <a:pPr marL="697230" marR="83820" indent="-227965">
              <a:lnSpc>
                <a:spcPts val="1730"/>
              </a:lnSpc>
              <a:spcBef>
                <a:spcPts val="565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extracted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table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pandas 	DataFrame.</a:t>
            </a:r>
            <a:endParaRPr sz="1550">
              <a:latin typeface="Calibri"/>
              <a:cs typeface="Calibri"/>
            </a:endParaRPr>
          </a:p>
          <a:p>
            <a:pPr marL="696595" marR="120014" indent="-227329">
              <a:lnSpc>
                <a:spcPts val="1730"/>
              </a:lnSpc>
              <a:spcBef>
                <a:spcPts val="520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Clean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format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DataFrame,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ensuring</a:t>
            </a:r>
            <a:r>
              <a:rPr sz="1550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data 	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consistency.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2030" y="573405"/>
            <a:ext cx="525907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Data</a:t>
            </a:r>
            <a:r>
              <a:rPr spc="-65" dirty="0"/>
              <a:t> </a:t>
            </a:r>
            <a:r>
              <a:rPr spc="-35" dirty="0"/>
              <a:t>Collection </a:t>
            </a:r>
            <a:r>
              <a:rPr dirty="0"/>
              <a:t>-</a:t>
            </a:r>
            <a:r>
              <a:rPr spc="-60" dirty="0"/>
              <a:t> </a:t>
            </a:r>
            <a:r>
              <a:rPr spc="-70" dirty="0"/>
              <a:t>Scraping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91313" y="1790700"/>
            <a:ext cx="5238750" cy="4248150"/>
            <a:chOff x="6191313" y="1790700"/>
            <a:chExt cx="5238750" cy="4248150"/>
          </a:xfrm>
        </p:grpSpPr>
        <p:sp>
          <p:nvSpPr>
            <p:cNvPr id="6" name="object 6"/>
            <p:cNvSpPr/>
            <p:nvPr/>
          </p:nvSpPr>
          <p:spPr>
            <a:xfrm>
              <a:off x="6196076" y="1795462"/>
              <a:ext cx="5229225" cy="4238625"/>
            </a:xfrm>
            <a:custGeom>
              <a:avLst/>
              <a:gdLst/>
              <a:ahLst/>
              <a:cxnLst/>
              <a:rect l="l" t="t" r="r" b="b"/>
              <a:pathLst>
                <a:path w="5229225" h="4238625">
                  <a:moveTo>
                    <a:pt x="0" y="4238625"/>
                  </a:moveTo>
                  <a:lnTo>
                    <a:pt x="5229225" y="4238625"/>
                  </a:lnTo>
                  <a:lnTo>
                    <a:pt x="5229225" y="0"/>
                  </a:lnTo>
                  <a:lnTo>
                    <a:pt x="0" y="0"/>
                  </a:lnTo>
                  <a:lnTo>
                    <a:pt x="0" y="4238625"/>
                  </a:lnTo>
                  <a:close/>
                </a:path>
              </a:pathLst>
            </a:custGeom>
            <a:ln w="9525">
              <a:solidFill>
                <a:srgbClr val="0A48C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81826" y="1805050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81826" y="1805050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94856" y="2052637"/>
            <a:ext cx="1339215" cy="401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 algn="ctr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125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1250">
              <a:latin typeface="Calibri"/>
              <a:cs typeface="Calibri"/>
            </a:endParaRPr>
          </a:p>
          <a:p>
            <a:pPr marR="5080" algn="ctr">
              <a:lnSpc>
                <a:spcPts val="1465"/>
              </a:lnSpc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r>
              <a:rPr sz="1250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(requests.get)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01025" y="1798701"/>
            <a:ext cx="2087880" cy="955675"/>
            <a:chOff x="8201025" y="1798701"/>
            <a:chExt cx="2087880" cy="955675"/>
          </a:xfrm>
        </p:grpSpPr>
        <p:sp>
          <p:nvSpPr>
            <p:cNvPr id="11" name="object 11"/>
            <p:cNvSpPr/>
            <p:nvPr/>
          </p:nvSpPr>
          <p:spPr>
            <a:xfrm>
              <a:off x="8201025" y="2076450"/>
              <a:ext cx="333375" cy="390525"/>
            </a:xfrm>
            <a:custGeom>
              <a:avLst/>
              <a:gdLst/>
              <a:ahLst/>
              <a:cxnLst/>
              <a:rect l="l" t="t" r="r" b="b"/>
              <a:pathLst>
                <a:path w="333375" h="390525">
                  <a:moveTo>
                    <a:pt x="166750" y="0"/>
                  </a:moveTo>
                  <a:lnTo>
                    <a:pt x="166750" y="78104"/>
                  </a:lnTo>
                  <a:lnTo>
                    <a:pt x="0" y="78104"/>
                  </a:lnTo>
                  <a:lnTo>
                    <a:pt x="0" y="312420"/>
                  </a:lnTo>
                  <a:lnTo>
                    <a:pt x="166750" y="312420"/>
                  </a:lnTo>
                  <a:lnTo>
                    <a:pt x="166750" y="390525"/>
                  </a:lnTo>
                  <a:lnTo>
                    <a:pt x="333375" y="195199"/>
                  </a:lnTo>
                  <a:lnTo>
                    <a:pt x="1667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01151" y="18050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01151" y="18050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806180" y="2052637"/>
            <a:ext cx="1381125" cy="401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ctr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HTML</a:t>
            </a:r>
            <a:r>
              <a:rPr sz="12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endParaRPr sz="1250">
              <a:latin typeface="Calibri"/>
              <a:cs typeface="Calibri"/>
            </a:endParaRPr>
          </a:p>
          <a:p>
            <a:pPr marR="5080" algn="ctr">
              <a:lnSpc>
                <a:spcPts val="1465"/>
              </a:lnSpc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(BeautifulSoup)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694801" y="2886075"/>
            <a:ext cx="1593850" cy="1449705"/>
            <a:chOff x="8694801" y="2886075"/>
            <a:chExt cx="1593850" cy="1449705"/>
          </a:xfrm>
        </p:grpSpPr>
        <p:sp>
          <p:nvSpPr>
            <p:cNvPr id="16" name="object 16"/>
            <p:cNvSpPr/>
            <p:nvPr/>
          </p:nvSpPr>
          <p:spPr>
            <a:xfrm>
              <a:off x="9286875" y="2886075"/>
              <a:ext cx="390525" cy="333375"/>
            </a:xfrm>
            <a:custGeom>
              <a:avLst/>
              <a:gdLst/>
              <a:ahLst/>
              <a:cxnLst/>
              <a:rect l="l" t="t" r="r" b="b"/>
              <a:pathLst>
                <a:path w="390525" h="333375">
                  <a:moveTo>
                    <a:pt x="312420" y="0"/>
                  </a:moveTo>
                  <a:lnTo>
                    <a:pt x="78104" y="0"/>
                  </a:lnTo>
                  <a:lnTo>
                    <a:pt x="78104" y="166624"/>
                  </a:lnTo>
                  <a:lnTo>
                    <a:pt x="0" y="166624"/>
                  </a:lnTo>
                  <a:lnTo>
                    <a:pt x="195325" y="333375"/>
                  </a:lnTo>
                  <a:lnTo>
                    <a:pt x="390525" y="166624"/>
                  </a:lnTo>
                  <a:lnTo>
                    <a:pt x="312420" y="166624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01151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01151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83980" y="3543617"/>
            <a:ext cx="102108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5080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Launch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(HTML table)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75476" y="3379851"/>
            <a:ext cx="2078355" cy="955675"/>
            <a:chOff x="6475476" y="3379851"/>
            <a:chExt cx="2078355" cy="955675"/>
          </a:xfrm>
        </p:grpSpPr>
        <p:sp>
          <p:nvSpPr>
            <p:cNvPr id="21" name="object 21"/>
            <p:cNvSpPr/>
            <p:nvPr/>
          </p:nvSpPr>
          <p:spPr>
            <a:xfrm>
              <a:off x="8220075" y="3657600"/>
              <a:ext cx="333375" cy="390525"/>
            </a:xfrm>
            <a:custGeom>
              <a:avLst/>
              <a:gdLst/>
              <a:ahLst/>
              <a:cxnLst/>
              <a:rect l="l" t="t" r="r" b="b"/>
              <a:pathLst>
                <a:path w="333375" h="390525">
                  <a:moveTo>
                    <a:pt x="166750" y="0"/>
                  </a:moveTo>
                  <a:lnTo>
                    <a:pt x="0" y="195199"/>
                  </a:lnTo>
                  <a:lnTo>
                    <a:pt x="166750" y="390525"/>
                  </a:lnTo>
                  <a:lnTo>
                    <a:pt x="166750" y="312419"/>
                  </a:lnTo>
                  <a:lnTo>
                    <a:pt x="333375" y="312419"/>
                  </a:lnTo>
                  <a:lnTo>
                    <a:pt x="333375" y="78105"/>
                  </a:lnTo>
                  <a:lnTo>
                    <a:pt x="166750" y="78105"/>
                  </a:lnTo>
                  <a:lnTo>
                    <a:pt x="1667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81826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81826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97015" y="3543617"/>
            <a:ext cx="1365885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200025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HTML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2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DataFrame (pandas.DataFrame)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75476" y="4467225"/>
            <a:ext cx="1593850" cy="1449705"/>
            <a:chOff x="6475476" y="4467225"/>
            <a:chExt cx="1593850" cy="1449705"/>
          </a:xfrm>
        </p:grpSpPr>
        <p:sp>
          <p:nvSpPr>
            <p:cNvPr id="26" name="object 26"/>
            <p:cNvSpPr/>
            <p:nvPr/>
          </p:nvSpPr>
          <p:spPr>
            <a:xfrm>
              <a:off x="7077075" y="4467225"/>
              <a:ext cx="390525" cy="333375"/>
            </a:xfrm>
            <a:custGeom>
              <a:avLst/>
              <a:gdLst/>
              <a:ahLst/>
              <a:cxnLst/>
              <a:rect l="l" t="t" r="r" b="b"/>
              <a:pathLst>
                <a:path w="390525" h="333375">
                  <a:moveTo>
                    <a:pt x="312420" y="0"/>
                  </a:moveTo>
                  <a:lnTo>
                    <a:pt x="78104" y="0"/>
                  </a:lnTo>
                  <a:lnTo>
                    <a:pt x="78104" y="166624"/>
                  </a:lnTo>
                  <a:lnTo>
                    <a:pt x="0" y="166624"/>
                  </a:lnTo>
                  <a:lnTo>
                    <a:pt x="195325" y="333375"/>
                  </a:lnTo>
                  <a:lnTo>
                    <a:pt x="390525" y="166624"/>
                  </a:lnTo>
                  <a:lnTo>
                    <a:pt x="312420" y="166624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81826" y="49673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4"/>
                  </a:lnTo>
                  <a:lnTo>
                    <a:pt x="7401" y="885320"/>
                  </a:lnTo>
                  <a:lnTo>
                    <a:pt x="27590" y="915293"/>
                  </a:lnTo>
                  <a:lnTo>
                    <a:pt x="57542" y="935501"/>
                  </a:lnTo>
                  <a:lnTo>
                    <a:pt x="94233" y="942911"/>
                  </a:lnTo>
                  <a:lnTo>
                    <a:pt x="1486789" y="942911"/>
                  </a:lnTo>
                  <a:lnTo>
                    <a:pt x="1523499" y="935501"/>
                  </a:lnTo>
                  <a:lnTo>
                    <a:pt x="1553495" y="915293"/>
                  </a:lnTo>
                  <a:lnTo>
                    <a:pt x="1573728" y="885320"/>
                  </a:lnTo>
                  <a:lnTo>
                    <a:pt x="1581150" y="848614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81826" y="49673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4"/>
                  </a:lnTo>
                  <a:lnTo>
                    <a:pt x="1573728" y="885320"/>
                  </a:lnTo>
                  <a:lnTo>
                    <a:pt x="1553495" y="915293"/>
                  </a:lnTo>
                  <a:lnTo>
                    <a:pt x="1523499" y="935501"/>
                  </a:lnTo>
                  <a:lnTo>
                    <a:pt x="1486789" y="942911"/>
                  </a:lnTo>
                  <a:lnTo>
                    <a:pt x="94233" y="942911"/>
                  </a:lnTo>
                  <a:lnTo>
                    <a:pt x="57542" y="935501"/>
                  </a:lnTo>
                  <a:lnTo>
                    <a:pt x="27590" y="915293"/>
                  </a:lnTo>
                  <a:lnTo>
                    <a:pt x="7401" y="885320"/>
                  </a:lnTo>
                  <a:lnTo>
                    <a:pt x="0" y="848614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65518" y="5125783"/>
            <a:ext cx="143383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18745" marR="120014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Clean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Format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(drop</a:t>
            </a:r>
            <a:r>
              <a:rPr sz="125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nulls,</a:t>
            </a:r>
            <a:endParaRPr sz="1250">
              <a:latin typeface="Calibri"/>
              <a:cs typeface="Calibri"/>
            </a:endParaRPr>
          </a:p>
          <a:p>
            <a:pPr marR="5080" algn="ctr">
              <a:lnSpc>
                <a:spcPts val="1390"/>
              </a:lnSpc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standardize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columns)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02030" y="6057503"/>
            <a:ext cx="3872865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1550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sz="1550" spc="1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2.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jupyter-labs-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webscraping.ipynb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10</a:t>
            </a:fld>
            <a:endParaRPr spc="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71612"/>
            <a:ext cx="9983470" cy="38392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34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Overview: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wrangling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involves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cleaning,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transforming,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organizing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raw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structured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format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suitable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Cleaning</a:t>
            </a:r>
            <a:endParaRPr sz="1800">
              <a:latin typeface="Calibri"/>
              <a:cs typeface="Calibri"/>
            </a:endParaRPr>
          </a:p>
          <a:p>
            <a:pPr marL="749935" lvl="1" indent="-28003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74993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fill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remove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missing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values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appropriate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imputation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techniques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drop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rows/columns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excessive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missing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50"/>
              </a:spcBef>
              <a:buClr>
                <a:srgbClr val="292929"/>
              </a:buClr>
              <a:buFont typeface="Courier New"/>
              <a:buChar char="o"/>
            </a:pP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Transformation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types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appropriate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formats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date-time,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numerical).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Standardize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text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800" spc="-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lowercase,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remove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whitespace).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Create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new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existing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year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date).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Normalize/scale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consistency.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11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210" dirty="0"/>
              <a:t> </a:t>
            </a:r>
            <a:r>
              <a:rPr spc="-55" dirty="0"/>
              <a:t>Wrangling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40878"/>
            <a:ext cx="9810750" cy="22580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345"/>
              </a:spcBef>
              <a:buClr>
                <a:srgbClr val="292929"/>
              </a:buClr>
              <a:buFont typeface="Arial MT"/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Integration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4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Merge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datasets</a:t>
            </a:r>
            <a:r>
              <a:rPr sz="18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collected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different sources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(API,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web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scraping)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single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cohesive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consistent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column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names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formats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datasets.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50"/>
              </a:spcBef>
              <a:buClr>
                <a:srgbClr val="292929"/>
              </a:buClr>
              <a:buFont typeface="Courier New"/>
              <a:buChar char="o"/>
            </a:pPr>
            <a:endParaRPr sz="1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4: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Validation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Check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duplicate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records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remove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them.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Verify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accuracy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consistency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entries.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12</a:t>
            </a:fld>
            <a:endParaRPr spc="60" dirty="0"/>
          </a:p>
        </p:txBody>
      </p:sp>
      <p:sp>
        <p:nvSpPr>
          <p:cNvPr id="3" name="object 3"/>
          <p:cNvSpPr txBox="1"/>
          <p:nvPr/>
        </p:nvSpPr>
        <p:spPr>
          <a:xfrm>
            <a:off x="849312" y="4523676"/>
            <a:ext cx="5336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GitHub</a:t>
            </a:r>
            <a:r>
              <a:rPr sz="18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292929"/>
                </a:solidFill>
                <a:latin typeface="Microsoft Sans Serif"/>
                <a:cs typeface="Microsoft Sans Serif"/>
              </a:rPr>
              <a:t>URL:</a:t>
            </a:r>
            <a:r>
              <a:rPr sz="18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3.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labs-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jupyter-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spacex-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wrangling.ipynb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210" dirty="0"/>
              <a:t> </a:t>
            </a:r>
            <a:r>
              <a:rPr spc="-55" dirty="0"/>
              <a:t>Wrangling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185" dirty="0"/>
              <a:t> </a:t>
            </a:r>
            <a:r>
              <a:rPr spc="-30" dirty="0"/>
              <a:t>Wrangling</a:t>
            </a:r>
            <a:r>
              <a:rPr spc="-145" dirty="0"/>
              <a:t> </a:t>
            </a:r>
            <a:r>
              <a:rPr spc="-40" dirty="0"/>
              <a:t>Flowchart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8851" y="1474850"/>
            <a:ext cx="1536700" cy="1363980"/>
            <a:chOff x="2998851" y="1474850"/>
            <a:chExt cx="1536700" cy="1363980"/>
          </a:xfrm>
        </p:grpSpPr>
        <p:sp>
          <p:nvSpPr>
            <p:cNvPr id="4" name="object 4"/>
            <p:cNvSpPr/>
            <p:nvPr/>
          </p:nvSpPr>
          <p:spPr>
            <a:xfrm>
              <a:off x="3238500" y="1704974"/>
              <a:ext cx="142875" cy="1133475"/>
            </a:xfrm>
            <a:custGeom>
              <a:avLst/>
              <a:gdLst/>
              <a:ahLst/>
              <a:cxnLst/>
              <a:rect l="l" t="t" r="r" b="b"/>
              <a:pathLst>
                <a:path w="142875" h="1133475">
                  <a:moveTo>
                    <a:pt x="142875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42875" y="11334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5201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05201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23895" y="1626615"/>
            <a:ext cx="1080770" cy="582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endParaRPr sz="1250">
              <a:latin typeface="Calibri"/>
              <a:cs typeface="Calibri"/>
            </a:endParaRPr>
          </a:p>
          <a:p>
            <a:pPr marL="36830" marR="59055" indent="289560">
              <a:lnSpc>
                <a:spcPts val="1430"/>
              </a:lnSpc>
              <a:spcBef>
                <a:spcPts val="6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Values (pandas.isnull)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98851" y="2617851"/>
            <a:ext cx="1536700" cy="1363980"/>
            <a:chOff x="2998851" y="2617851"/>
            <a:chExt cx="1536700" cy="1363980"/>
          </a:xfrm>
        </p:grpSpPr>
        <p:sp>
          <p:nvSpPr>
            <p:cNvPr id="9" name="object 9"/>
            <p:cNvSpPr/>
            <p:nvPr/>
          </p:nvSpPr>
          <p:spPr>
            <a:xfrm>
              <a:off x="3238500" y="2847975"/>
              <a:ext cx="142875" cy="1133475"/>
            </a:xfrm>
            <a:custGeom>
              <a:avLst/>
              <a:gdLst/>
              <a:ahLst/>
              <a:cxnLst/>
              <a:rect l="l" t="t" r="r" b="b"/>
              <a:pathLst>
                <a:path w="142875" h="1133475">
                  <a:moveTo>
                    <a:pt x="142875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42875" y="11334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05201" y="2624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05201" y="2624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10941" y="2769552"/>
            <a:ext cx="1114425" cy="582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430"/>
              </a:lnSpc>
              <a:spcBef>
                <a:spcPts val="229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Impute/Remove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sz="125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(fillna/dropna)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98851" y="3760851"/>
            <a:ext cx="1536700" cy="1363980"/>
            <a:chOff x="2998851" y="3760851"/>
            <a:chExt cx="1536700" cy="1363980"/>
          </a:xfrm>
        </p:grpSpPr>
        <p:sp>
          <p:nvSpPr>
            <p:cNvPr id="14" name="object 14"/>
            <p:cNvSpPr/>
            <p:nvPr/>
          </p:nvSpPr>
          <p:spPr>
            <a:xfrm>
              <a:off x="3238500" y="3990975"/>
              <a:ext cx="142875" cy="1133475"/>
            </a:xfrm>
            <a:custGeom>
              <a:avLst/>
              <a:gdLst/>
              <a:ahLst/>
              <a:cxnLst/>
              <a:rect l="l" t="t" r="r" b="b"/>
              <a:pathLst>
                <a:path w="142875" h="1133475">
                  <a:moveTo>
                    <a:pt x="142875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42875" y="11334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05201" y="3767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05201" y="3767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08070" y="3912806"/>
            <a:ext cx="131699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25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Types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(pd.to_datetime, astype)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98851" y="4903851"/>
            <a:ext cx="2335530" cy="927100"/>
            <a:chOff x="2998851" y="4903851"/>
            <a:chExt cx="2335530" cy="927100"/>
          </a:xfrm>
        </p:grpSpPr>
        <p:sp>
          <p:nvSpPr>
            <p:cNvPr id="19" name="object 19"/>
            <p:cNvSpPr/>
            <p:nvPr/>
          </p:nvSpPr>
          <p:spPr>
            <a:xfrm>
              <a:off x="3314700" y="5057775"/>
              <a:ext cx="2019300" cy="142875"/>
            </a:xfrm>
            <a:custGeom>
              <a:avLst/>
              <a:gdLst/>
              <a:ahLst/>
              <a:cxnLst/>
              <a:rect l="l" t="t" r="r" b="b"/>
              <a:pathLst>
                <a:path w="2019300" h="142875">
                  <a:moveTo>
                    <a:pt x="2019300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2019300" y="142875"/>
                  </a:lnTo>
                  <a:lnTo>
                    <a:pt x="20193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05201" y="4910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896"/>
                  </a:lnTo>
                  <a:lnTo>
                    <a:pt x="7179" y="858486"/>
                  </a:lnTo>
                  <a:lnTo>
                    <a:pt x="26765" y="887552"/>
                  </a:lnTo>
                  <a:lnTo>
                    <a:pt x="55828" y="907149"/>
                  </a:lnTo>
                  <a:lnTo>
                    <a:pt x="91440" y="914336"/>
                  </a:lnTo>
                  <a:lnTo>
                    <a:pt x="1432560" y="914336"/>
                  </a:lnTo>
                  <a:lnTo>
                    <a:pt x="1468118" y="907149"/>
                  </a:lnTo>
                  <a:lnTo>
                    <a:pt x="1497187" y="887552"/>
                  </a:lnTo>
                  <a:lnTo>
                    <a:pt x="1516802" y="858486"/>
                  </a:lnTo>
                  <a:lnTo>
                    <a:pt x="1524000" y="822896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05201" y="4910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896"/>
                  </a:lnTo>
                  <a:lnTo>
                    <a:pt x="1516802" y="858486"/>
                  </a:lnTo>
                  <a:lnTo>
                    <a:pt x="1497187" y="887552"/>
                  </a:lnTo>
                  <a:lnTo>
                    <a:pt x="1468118" y="907149"/>
                  </a:lnTo>
                  <a:lnTo>
                    <a:pt x="1432560" y="914336"/>
                  </a:lnTo>
                  <a:lnTo>
                    <a:pt x="91440" y="914336"/>
                  </a:lnTo>
                  <a:lnTo>
                    <a:pt x="55828" y="907149"/>
                  </a:lnTo>
                  <a:lnTo>
                    <a:pt x="26765" y="887552"/>
                  </a:lnTo>
                  <a:lnTo>
                    <a:pt x="7179" y="858486"/>
                  </a:lnTo>
                  <a:lnTo>
                    <a:pt x="0" y="822896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208020" y="5147691"/>
            <a:ext cx="1116330" cy="400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460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Standardize</a:t>
            </a:r>
            <a:r>
              <a:rPr sz="12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1250">
              <a:latin typeface="Calibri"/>
              <a:cs typeface="Calibri"/>
            </a:endParaRPr>
          </a:p>
          <a:p>
            <a:pPr marL="36830">
              <a:lnSpc>
                <a:spcPts val="1460"/>
              </a:lnSpc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(str.lower,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strip)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27676" y="3990975"/>
            <a:ext cx="1536700" cy="1840230"/>
            <a:chOff x="5027676" y="3990975"/>
            <a:chExt cx="1536700" cy="1840230"/>
          </a:xfrm>
        </p:grpSpPr>
        <p:sp>
          <p:nvSpPr>
            <p:cNvPr id="24" name="object 24"/>
            <p:cNvSpPr/>
            <p:nvPr/>
          </p:nvSpPr>
          <p:spPr>
            <a:xfrm>
              <a:off x="5267325" y="3990975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34026" y="4910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896"/>
                  </a:lnTo>
                  <a:lnTo>
                    <a:pt x="7179" y="858486"/>
                  </a:lnTo>
                  <a:lnTo>
                    <a:pt x="26765" y="887552"/>
                  </a:lnTo>
                  <a:lnTo>
                    <a:pt x="55828" y="907149"/>
                  </a:lnTo>
                  <a:lnTo>
                    <a:pt x="91439" y="914336"/>
                  </a:lnTo>
                  <a:lnTo>
                    <a:pt x="1432560" y="914336"/>
                  </a:lnTo>
                  <a:lnTo>
                    <a:pt x="1468118" y="907149"/>
                  </a:lnTo>
                  <a:lnTo>
                    <a:pt x="1497187" y="887552"/>
                  </a:lnTo>
                  <a:lnTo>
                    <a:pt x="1516802" y="858486"/>
                  </a:lnTo>
                  <a:lnTo>
                    <a:pt x="1524000" y="822896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34026" y="4910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896"/>
                  </a:lnTo>
                  <a:lnTo>
                    <a:pt x="1516802" y="858486"/>
                  </a:lnTo>
                  <a:lnTo>
                    <a:pt x="1497187" y="887552"/>
                  </a:lnTo>
                  <a:lnTo>
                    <a:pt x="1468118" y="907149"/>
                  </a:lnTo>
                  <a:lnTo>
                    <a:pt x="1432560" y="914336"/>
                  </a:lnTo>
                  <a:lnTo>
                    <a:pt x="91439" y="914336"/>
                  </a:lnTo>
                  <a:lnTo>
                    <a:pt x="55828" y="907149"/>
                  </a:lnTo>
                  <a:lnTo>
                    <a:pt x="26765" y="887552"/>
                  </a:lnTo>
                  <a:lnTo>
                    <a:pt x="7179" y="858486"/>
                  </a:lnTo>
                  <a:lnTo>
                    <a:pt x="0" y="822896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109590" y="5056187"/>
            <a:ext cx="136652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Engineering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(create</a:t>
            </a:r>
            <a:r>
              <a:rPr sz="12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columns)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27676" y="2847975"/>
            <a:ext cx="1536700" cy="1840230"/>
            <a:chOff x="5027676" y="2847975"/>
            <a:chExt cx="1536700" cy="1840230"/>
          </a:xfrm>
        </p:grpSpPr>
        <p:sp>
          <p:nvSpPr>
            <p:cNvPr id="29" name="object 29"/>
            <p:cNvSpPr/>
            <p:nvPr/>
          </p:nvSpPr>
          <p:spPr>
            <a:xfrm>
              <a:off x="5267325" y="2847975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34026" y="3767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39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34026" y="3767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39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237226" y="3822128"/>
            <a:ext cx="1114425" cy="7734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ct val="96800"/>
              </a:lnSpc>
              <a:spcBef>
                <a:spcPts val="17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Normalize/Scale Features (MinMaxScaler, StandardScaler)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027676" y="1704975"/>
            <a:ext cx="1536700" cy="1840230"/>
            <a:chOff x="5027676" y="1704975"/>
            <a:chExt cx="1536700" cy="1840230"/>
          </a:xfrm>
        </p:grpSpPr>
        <p:sp>
          <p:nvSpPr>
            <p:cNvPr id="34" name="object 34"/>
            <p:cNvSpPr/>
            <p:nvPr/>
          </p:nvSpPr>
          <p:spPr>
            <a:xfrm>
              <a:off x="5267325" y="1704975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34026" y="2624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39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34026" y="2624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39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44770" y="2769552"/>
            <a:ext cx="1297305" cy="582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82575" marR="5080" indent="-269875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Merge</a:t>
            </a:r>
            <a:r>
              <a:rPr sz="125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DataFrames (pd.merge, pd.concat)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027676" y="1474850"/>
            <a:ext cx="2335530" cy="927100"/>
            <a:chOff x="5027676" y="1474850"/>
            <a:chExt cx="2335530" cy="927100"/>
          </a:xfrm>
        </p:grpSpPr>
        <p:sp>
          <p:nvSpPr>
            <p:cNvPr id="39" name="object 39"/>
            <p:cNvSpPr/>
            <p:nvPr/>
          </p:nvSpPr>
          <p:spPr>
            <a:xfrm>
              <a:off x="5334000" y="1638299"/>
              <a:ext cx="2028825" cy="133350"/>
            </a:xfrm>
            <a:custGeom>
              <a:avLst/>
              <a:gdLst/>
              <a:ahLst/>
              <a:cxnLst/>
              <a:rect l="l" t="t" r="r" b="b"/>
              <a:pathLst>
                <a:path w="2028825" h="133350">
                  <a:moveTo>
                    <a:pt x="2028825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2028825" y="133350"/>
                  </a:lnTo>
                  <a:lnTo>
                    <a:pt x="202882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34026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39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34026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39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108955" y="1626615"/>
            <a:ext cx="1368425" cy="5822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065" marR="5080" indent="-4445" algn="ctr">
              <a:lnSpc>
                <a:spcPct val="95100"/>
              </a:lnSpc>
              <a:spcBef>
                <a:spcPts val="19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Consistency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(align</a:t>
            </a:r>
            <a:r>
              <a:rPr sz="12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columns,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types)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056501" y="1474850"/>
            <a:ext cx="1527175" cy="1363980"/>
            <a:chOff x="7056501" y="1474850"/>
            <a:chExt cx="1527175" cy="1363980"/>
          </a:xfrm>
        </p:grpSpPr>
        <p:sp>
          <p:nvSpPr>
            <p:cNvPr id="44" name="object 44"/>
            <p:cNvSpPr/>
            <p:nvPr/>
          </p:nvSpPr>
          <p:spPr>
            <a:xfrm>
              <a:off x="7296150" y="1704974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62851" y="1481200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1422907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22907" y="914400"/>
                  </a:lnTo>
                  <a:lnTo>
                    <a:pt x="1458539" y="907202"/>
                  </a:lnTo>
                  <a:lnTo>
                    <a:pt x="1487646" y="887587"/>
                  </a:lnTo>
                  <a:lnTo>
                    <a:pt x="1507275" y="858518"/>
                  </a:lnTo>
                  <a:lnTo>
                    <a:pt x="1514475" y="822960"/>
                  </a:lnTo>
                  <a:lnTo>
                    <a:pt x="1514475" y="91439"/>
                  </a:lnTo>
                  <a:lnTo>
                    <a:pt x="1507275" y="55828"/>
                  </a:lnTo>
                  <a:lnTo>
                    <a:pt x="1487646" y="26765"/>
                  </a:lnTo>
                  <a:lnTo>
                    <a:pt x="1458539" y="7179"/>
                  </a:lnTo>
                  <a:lnTo>
                    <a:pt x="142290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62851" y="1481200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22907" y="0"/>
                  </a:lnTo>
                  <a:lnTo>
                    <a:pt x="1458539" y="7179"/>
                  </a:lnTo>
                  <a:lnTo>
                    <a:pt x="1487646" y="26765"/>
                  </a:lnTo>
                  <a:lnTo>
                    <a:pt x="1507275" y="55828"/>
                  </a:lnTo>
                  <a:lnTo>
                    <a:pt x="1514475" y="91439"/>
                  </a:lnTo>
                  <a:lnTo>
                    <a:pt x="1514475" y="822960"/>
                  </a:lnTo>
                  <a:lnTo>
                    <a:pt x="1507275" y="858518"/>
                  </a:lnTo>
                  <a:lnTo>
                    <a:pt x="1487646" y="887587"/>
                  </a:lnTo>
                  <a:lnTo>
                    <a:pt x="1458539" y="907202"/>
                  </a:lnTo>
                  <a:lnTo>
                    <a:pt x="1422907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125334" y="1626615"/>
            <a:ext cx="1391285" cy="5822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algn="ctr">
              <a:lnSpc>
                <a:spcPct val="95100"/>
              </a:lnSpc>
              <a:spcBef>
                <a:spcPts val="19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2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2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Duplicates (pd.duplicated,</a:t>
            </a:r>
            <a:r>
              <a:rPr sz="12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drop)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056501" y="2617851"/>
            <a:ext cx="1527175" cy="927100"/>
            <a:chOff x="7056501" y="2617851"/>
            <a:chExt cx="1527175" cy="927100"/>
          </a:xfrm>
        </p:grpSpPr>
        <p:sp>
          <p:nvSpPr>
            <p:cNvPr id="49" name="object 49"/>
            <p:cNvSpPr/>
            <p:nvPr/>
          </p:nvSpPr>
          <p:spPr>
            <a:xfrm>
              <a:off x="7062851" y="2624201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1422907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22907" y="914400"/>
                  </a:lnTo>
                  <a:lnTo>
                    <a:pt x="1458539" y="907202"/>
                  </a:lnTo>
                  <a:lnTo>
                    <a:pt x="1487646" y="887587"/>
                  </a:lnTo>
                  <a:lnTo>
                    <a:pt x="1507275" y="858518"/>
                  </a:lnTo>
                  <a:lnTo>
                    <a:pt x="1514475" y="822960"/>
                  </a:lnTo>
                  <a:lnTo>
                    <a:pt x="1514475" y="91439"/>
                  </a:lnTo>
                  <a:lnTo>
                    <a:pt x="1507275" y="55828"/>
                  </a:lnTo>
                  <a:lnTo>
                    <a:pt x="1487646" y="26765"/>
                  </a:lnTo>
                  <a:lnTo>
                    <a:pt x="1458539" y="7179"/>
                  </a:lnTo>
                  <a:lnTo>
                    <a:pt x="142290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62851" y="2624201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22907" y="0"/>
                  </a:lnTo>
                  <a:lnTo>
                    <a:pt x="1458539" y="7179"/>
                  </a:lnTo>
                  <a:lnTo>
                    <a:pt x="1487646" y="26765"/>
                  </a:lnTo>
                  <a:lnTo>
                    <a:pt x="1507275" y="55828"/>
                  </a:lnTo>
                  <a:lnTo>
                    <a:pt x="1514475" y="91439"/>
                  </a:lnTo>
                  <a:lnTo>
                    <a:pt x="1514475" y="822960"/>
                  </a:lnTo>
                  <a:lnTo>
                    <a:pt x="1507275" y="858518"/>
                  </a:lnTo>
                  <a:lnTo>
                    <a:pt x="1487646" y="887587"/>
                  </a:lnTo>
                  <a:lnTo>
                    <a:pt x="1458539" y="907202"/>
                  </a:lnTo>
                  <a:lnTo>
                    <a:pt x="1422907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128891" y="2769552"/>
            <a:ext cx="1377950" cy="582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" algn="ctr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Verify</a:t>
            </a:r>
            <a:r>
              <a:rPr sz="125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250">
              <a:latin typeface="Calibri"/>
              <a:cs typeface="Calibri"/>
            </a:endParaRPr>
          </a:p>
          <a:p>
            <a:pPr marL="5080" algn="ctr">
              <a:lnSpc>
                <a:spcPts val="1425"/>
              </a:lnSpc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1465"/>
              </a:lnSpc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(consistency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checks)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13</a:t>
            </a:fld>
            <a:endParaRPr spc="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327260"/>
            <a:ext cx="9812655" cy="464121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Overview:</a:t>
            </a:r>
            <a:endParaRPr sz="1500">
              <a:latin typeface="Calibri"/>
              <a:cs typeface="Calibri"/>
            </a:endParaRPr>
          </a:p>
          <a:p>
            <a:pPr marL="241300" marR="5080" indent="-229235">
              <a:lnSpc>
                <a:spcPts val="1650"/>
              </a:lnSpc>
              <a:spcBef>
                <a:spcPts val="1005"/>
              </a:spcBef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Exploratory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5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(EDA)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involves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visually exploring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summarizing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main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characteristics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goal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to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data's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distribution,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5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patterns,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uncover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relationships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 variables.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Charts</a:t>
            </a:r>
            <a:r>
              <a:rPr sz="15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Plotted: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202565" algn="l"/>
              </a:tabLst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Histograms:</a:t>
            </a:r>
            <a:endParaRPr sz="1500">
              <a:latin typeface="Calibri"/>
              <a:cs typeface="Calibri"/>
            </a:endParaRPr>
          </a:p>
          <a:p>
            <a:pPr marL="12700" marR="372110" lvl="1" indent="229870">
              <a:lnSpc>
                <a:spcPts val="1580"/>
              </a:lnSpc>
              <a:spcBef>
                <a:spcPts val="106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visualize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rates,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mass, and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flight number.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10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understanding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spread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central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tendency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data,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identifying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outliers,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assessing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skewness.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30"/>
              </a:spcBef>
              <a:buAutoNum type="arabicPeriod" startAt="2"/>
              <a:tabLst>
                <a:tab pos="202565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Bar</a:t>
            </a:r>
            <a:r>
              <a:rPr sz="1500" b="1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Charts:</a:t>
            </a:r>
            <a:endParaRPr sz="1500">
              <a:latin typeface="Calibri"/>
              <a:cs typeface="Calibri"/>
            </a:endParaRPr>
          </a:p>
          <a:p>
            <a:pPr marL="12700" marR="201930" lvl="1" indent="229870">
              <a:lnSpc>
                <a:spcPts val="1650"/>
              </a:lnSpc>
              <a:spcBef>
                <a:spcPts val="100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compare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categorical</a:t>
            </a:r>
            <a:r>
              <a:rPr sz="150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variables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outcomes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(success/failure)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5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categories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like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types.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05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Provides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clear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comparison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frequencies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proportions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within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categorical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data,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highlighting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patterns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trends.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25"/>
              </a:spcBef>
              <a:buAutoNum type="arabicPeriod" startAt="3"/>
              <a:tabLst>
                <a:tab pos="202565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Line</a:t>
            </a:r>
            <a:r>
              <a:rPr sz="1500" b="1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Charts: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track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trends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over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time,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rate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15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years.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30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Why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Reveals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temporal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patterns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understanding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trends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changes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over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periods.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14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EDA</a:t>
            </a:r>
            <a:r>
              <a:rPr spc="-1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Data</a:t>
            </a:r>
            <a:r>
              <a:rPr spc="-25" dirty="0"/>
              <a:t> </a:t>
            </a:r>
            <a:r>
              <a:rPr spc="-35" dirty="0"/>
              <a:t>Visualization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327260"/>
            <a:ext cx="10097770" cy="3897629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925"/>
              </a:spcBef>
              <a:buClr>
                <a:srgbClr val="292929"/>
              </a:buClr>
              <a:buFont typeface="Calibri"/>
              <a:buAutoNum type="arabicPeriod" startAt="4"/>
              <a:tabLst>
                <a:tab pos="203200" algn="l"/>
              </a:tabLst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Scatter</a:t>
            </a:r>
            <a:r>
              <a:rPr sz="15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Plots: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2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explore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relationships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variables,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vs.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success.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30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Identifies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correlations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dependencies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variables,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visualizing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how one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changes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concerning another.</a:t>
            </a:r>
            <a:endParaRPr sz="1500">
              <a:latin typeface="Calibri"/>
              <a:cs typeface="Calibri"/>
            </a:endParaRPr>
          </a:p>
          <a:p>
            <a:pPr marL="203835" indent="-191135">
              <a:lnSpc>
                <a:spcPct val="100000"/>
              </a:lnSpc>
              <a:spcBef>
                <a:spcPts val="830"/>
              </a:spcBef>
              <a:buFont typeface="Calibri"/>
              <a:buAutoNum type="arabicPeriod" startAt="5"/>
              <a:tabLst>
                <a:tab pos="203835" algn="l"/>
              </a:tabLst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Heatmaps: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25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visualize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correlation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matrices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multiple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variables.</a:t>
            </a:r>
            <a:endParaRPr sz="1500">
              <a:latin typeface="Calibri"/>
              <a:cs typeface="Calibri"/>
            </a:endParaRPr>
          </a:p>
          <a:p>
            <a:pPr marL="241300" marR="5080" lvl="1" indent="-100330">
              <a:lnSpc>
                <a:spcPts val="1650"/>
              </a:lnSpc>
              <a:spcBef>
                <a:spcPts val="1010"/>
              </a:spcBef>
              <a:buChar char="-"/>
              <a:tabLst>
                <a:tab pos="24130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identifying</a:t>
            </a:r>
            <a:r>
              <a:rPr sz="15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strong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correlations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(positive or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negative)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variables,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aiding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feature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selection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understanding multicollinearity.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00"/>
              </a:spcBef>
              <a:buFont typeface="Calibri"/>
              <a:buAutoNum type="arabicPeriod" startAt="6"/>
              <a:tabLst>
                <a:tab pos="202565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Box</a:t>
            </a:r>
            <a:r>
              <a:rPr sz="15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Plots: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755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display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through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their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quartiles.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30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Visualizes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spread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skewness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data,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highlighting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outliers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comparing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distributions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categories.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15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5.</a:t>
            </a:r>
            <a:r>
              <a:rPr sz="15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jupyter-labs-eda-dataviz.ipynb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15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EDA</a:t>
            </a:r>
            <a:r>
              <a:rPr spc="-1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Data</a:t>
            </a:r>
            <a:r>
              <a:rPr spc="-25" dirty="0"/>
              <a:t> </a:t>
            </a:r>
            <a:r>
              <a:rPr spc="-35" dirty="0"/>
              <a:t>Visualization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15605"/>
            <a:ext cx="5083810" cy="44424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Aggregate</a:t>
            </a:r>
            <a:r>
              <a:rPr sz="1400" b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Calculated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total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Counted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failed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Calculated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rates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type.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Clr>
                <a:srgbClr val="292929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Join</a:t>
            </a:r>
            <a:r>
              <a:rPr sz="14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ts val="1590"/>
              </a:lnSpc>
              <a:spcBef>
                <a:spcPts val="8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Joined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tables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link launch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records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additional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0"/>
              </a:lnSpc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details).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Combined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datasets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comprehensive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Clr>
                <a:srgbClr val="292929"/>
              </a:buClr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Filtering</a:t>
            </a:r>
            <a:r>
              <a:rPr sz="14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  <a:p>
            <a:pPr marL="241300" marR="1229995" indent="-229235">
              <a:lnSpc>
                <a:spcPts val="15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Filtered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focus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outcomes (success/failure).</a:t>
            </a:r>
            <a:endParaRPr sz="1400">
              <a:latin typeface="Calibri"/>
              <a:cs typeface="Calibri"/>
            </a:endParaRPr>
          </a:p>
          <a:p>
            <a:pPr marL="241300" marR="5080" indent="-229235">
              <a:lnSpc>
                <a:spcPts val="15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Applied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conditions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 to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launches based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criteria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like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configuration.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16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EDA</a:t>
            </a:r>
            <a:r>
              <a:rPr spc="75" dirty="0"/>
              <a:t> </a:t>
            </a:r>
            <a:r>
              <a:rPr dirty="0"/>
              <a:t>with</a:t>
            </a:r>
            <a:r>
              <a:rPr spc="100" dirty="0"/>
              <a:t> </a:t>
            </a:r>
            <a:r>
              <a:rPr spc="-330" dirty="0"/>
              <a:t>SQL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98005" y="1524317"/>
            <a:ext cx="12198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Sorting</a:t>
            </a:r>
            <a:r>
              <a:rPr sz="1400" b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8005" y="1752198"/>
            <a:ext cx="4176395" cy="6546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Sorted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trends or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outliers.</a:t>
            </a:r>
            <a:endParaRPr sz="14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Ordered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launches by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date or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rate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8005" y="2802572"/>
            <a:ext cx="8959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Subqueries: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8005" y="3126803"/>
            <a:ext cx="4518025" cy="9486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8450" marR="74295" indent="-286385">
              <a:lnSpc>
                <a:spcPts val="1500"/>
              </a:lnSpc>
              <a:spcBef>
                <a:spcPts val="3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Nested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queries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calculate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derived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metrics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average payload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per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site).</a:t>
            </a:r>
            <a:endParaRPr sz="1400">
              <a:latin typeface="Calibri"/>
              <a:cs typeface="Calibri"/>
            </a:endParaRPr>
          </a:p>
          <a:p>
            <a:pPr marL="298450" marR="5080" indent="-286385">
              <a:lnSpc>
                <a:spcPts val="1580"/>
              </a:lnSpc>
              <a:spcBef>
                <a:spcPts val="91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Subqueries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detailed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within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larger datasets.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8005" y="4615179"/>
            <a:ext cx="434721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GitHub</a:t>
            </a:r>
            <a:r>
              <a:rPr sz="14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URL:</a:t>
            </a:r>
            <a:r>
              <a:rPr sz="14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4.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jupyter-labs-eda-sql-coursera_sqllite.ipynb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7" y="1289182"/>
            <a:ext cx="4928870" cy="470027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Map</a:t>
            </a:r>
            <a:r>
              <a:rPr sz="2000" b="1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Objects</a:t>
            </a:r>
            <a:r>
              <a:rPr sz="2000" b="1" spc="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Created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550" b="1" spc="-10" dirty="0">
                <a:solidFill>
                  <a:srgbClr val="525252"/>
                </a:solidFill>
                <a:latin typeface="Calibri"/>
                <a:cs typeface="Calibri"/>
              </a:rPr>
              <a:t>Markers: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Placed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markers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indicate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on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map.</a:t>
            </a:r>
            <a:endParaRPr sz="1550">
              <a:latin typeface="Calibri"/>
              <a:cs typeface="Calibri"/>
            </a:endParaRPr>
          </a:p>
          <a:p>
            <a:pPr marL="298450" marR="73660" indent="-286385">
              <a:lnSpc>
                <a:spcPts val="1730"/>
              </a:lnSpc>
              <a:spcBef>
                <a:spcPts val="1015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Each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marker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represents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specific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geographical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location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where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SpaceX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launches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have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occurred.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550" b="1" spc="-10" dirty="0">
                <a:solidFill>
                  <a:srgbClr val="525252"/>
                </a:solidFill>
                <a:latin typeface="Calibri"/>
                <a:cs typeface="Calibri"/>
              </a:rPr>
              <a:t>Circles:</a:t>
            </a:r>
            <a:endParaRPr sz="1550">
              <a:latin typeface="Calibri"/>
              <a:cs typeface="Calibri"/>
            </a:endParaRPr>
          </a:p>
          <a:p>
            <a:pPr marL="298450" marR="158750" indent="-286385">
              <a:lnSpc>
                <a:spcPts val="1730"/>
              </a:lnSpc>
              <a:spcBef>
                <a:spcPts val="1015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Added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circles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around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visually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represent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proximity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zones.</a:t>
            </a:r>
            <a:endParaRPr sz="1550">
              <a:latin typeface="Calibri"/>
              <a:cs typeface="Calibri"/>
            </a:endParaRPr>
          </a:p>
          <a:p>
            <a:pPr marL="298450" marR="102235" indent="-286385">
              <a:lnSpc>
                <a:spcPts val="1800"/>
              </a:lnSpc>
              <a:spcBef>
                <a:spcPts val="91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Circles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help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visualize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areas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around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1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that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might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influence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operational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decisions.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50" b="1" spc="-10" dirty="0">
                <a:solidFill>
                  <a:srgbClr val="525252"/>
                </a:solidFill>
                <a:latin typeface="Calibri"/>
                <a:cs typeface="Calibri"/>
              </a:rPr>
              <a:t>Lines:</a:t>
            </a:r>
            <a:endParaRPr sz="1550">
              <a:latin typeface="Calibri"/>
              <a:cs typeface="Calibri"/>
            </a:endParaRPr>
          </a:p>
          <a:p>
            <a:pPr marL="298450" marR="5080" indent="-286385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Drew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lines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connect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their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proximities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or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other</a:t>
            </a:r>
            <a:r>
              <a:rPr sz="1550" spc="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relevant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locations.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ts val="1795"/>
              </a:lnSpc>
              <a:spcBef>
                <a:spcPts val="88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Lines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provide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spatial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context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connections</a:t>
            </a:r>
            <a:r>
              <a:rPr sz="1550" spc="1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between</a:t>
            </a:r>
            <a:endParaRPr sz="1550">
              <a:latin typeface="Calibri"/>
              <a:cs typeface="Calibri"/>
            </a:endParaRPr>
          </a:p>
          <a:p>
            <a:pPr marL="298450">
              <a:lnSpc>
                <a:spcPts val="1795"/>
              </a:lnSpc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different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points</a:t>
            </a:r>
            <a:r>
              <a:rPr sz="1550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interest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related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launches.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17</a:t>
            </a:fld>
            <a:endParaRPr spc="60" dirty="0"/>
          </a:p>
        </p:txBody>
      </p:sp>
      <p:sp>
        <p:nvSpPr>
          <p:cNvPr id="9" name="object 9"/>
          <p:cNvSpPr txBox="1"/>
          <p:nvPr/>
        </p:nvSpPr>
        <p:spPr>
          <a:xfrm>
            <a:off x="847407" y="6165587"/>
            <a:ext cx="4565015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dirty="0">
                <a:solidFill>
                  <a:srgbClr val="292929"/>
                </a:solidFill>
                <a:latin typeface="Microsoft Sans Serif"/>
                <a:cs typeface="Microsoft Sans Serif"/>
              </a:rPr>
              <a:t>Github</a:t>
            </a:r>
            <a:r>
              <a:rPr sz="155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55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URL:</a:t>
            </a:r>
            <a:r>
              <a:rPr sz="15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6.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 lab_jupyter_launch_site_location.ipynb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7353934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Build</a:t>
            </a:r>
            <a:r>
              <a:rPr spc="-6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spc="-40" dirty="0"/>
              <a:t>Interactive</a:t>
            </a:r>
            <a:r>
              <a:rPr spc="-55" dirty="0"/>
              <a:t> </a:t>
            </a:r>
            <a:r>
              <a:rPr dirty="0"/>
              <a:t>Map</a:t>
            </a:r>
            <a:r>
              <a:rPr spc="-6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20" dirty="0"/>
              <a:t>Folium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40475" y="2018982"/>
            <a:ext cx="7766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7B7B7B"/>
                </a:solidFill>
                <a:latin typeface="Calibri"/>
                <a:cs typeface="Calibri"/>
              </a:rPr>
              <a:t>Markers: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0475" y="3240087"/>
            <a:ext cx="6242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7B7B7B"/>
                </a:solidFill>
                <a:latin typeface="Calibri"/>
                <a:cs typeface="Calibri"/>
              </a:rPr>
              <a:t>Circles: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0475" y="4699317"/>
            <a:ext cx="5099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7B7B7B"/>
                </a:solidFill>
                <a:latin typeface="Calibri"/>
                <a:cs typeface="Calibri"/>
              </a:rPr>
              <a:t>Lines: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0475" y="1456372"/>
            <a:ext cx="4863465" cy="44913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7B7B7B"/>
                </a:solidFill>
                <a:latin typeface="Calibri"/>
                <a:cs typeface="Calibri"/>
              </a:rPr>
              <a:t>Reasons</a:t>
            </a:r>
            <a:r>
              <a:rPr sz="2000" b="1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B7B7B"/>
                </a:solidFill>
                <a:latin typeface="Calibri"/>
                <a:cs typeface="Calibri"/>
              </a:rPr>
              <a:t>for</a:t>
            </a:r>
            <a:r>
              <a:rPr sz="2000" b="1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B7B7B"/>
                </a:solidFill>
                <a:latin typeface="Calibri"/>
                <a:cs typeface="Calibri"/>
              </a:rPr>
              <a:t>Adding</a:t>
            </a:r>
            <a:r>
              <a:rPr sz="2000" b="1" spc="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7B7B7B"/>
                </a:solidFill>
                <a:latin typeface="Calibri"/>
                <a:cs typeface="Calibri"/>
              </a:rPr>
              <a:t>Objects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To</a:t>
            </a:r>
            <a:r>
              <a:rPr sz="1550" spc="1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pinpoint</a:t>
            </a:r>
            <a:r>
              <a:rPr sz="1550" spc="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exact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550" spc="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locations</a:t>
            </a:r>
            <a:r>
              <a:rPr sz="1550" spc="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for</a:t>
            </a:r>
            <a:r>
              <a:rPr sz="1550" spc="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spatial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reference.</a:t>
            </a:r>
            <a:endParaRPr sz="1550">
              <a:latin typeface="Calibri"/>
              <a:cs typeface="Calibri"/>
            </a:endParaRPr>
          </a:p>
          <a:p>
            <a:pPr marL="298450" marR="492759" indent="-286385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Helps</a:t>
            </a:r>
            <a:r>
              <a:rPr sz="1550" spc="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users</a:t>
            </a:r>
            <a:r>
              <a:rPr sz="1550" spc="1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identify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where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SpaceX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has</a:t>
            </a:r>
            <a:r>
              <a:rPr sz="1550" spc="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conducted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launches</a:t>
            </a:r>
            <a:r>
              <a:rPr sz="1550" spc="1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geographically.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7B7B7B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marR="283210" indent="-286385">
              <a:lnSpc>
                <a:spcPct val="105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Illustrates</a:t>
            </a:r>
            <a:r>
              <a:rPr sz="1550" spc="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the</a:t>
            </a:r>
            <a:r>
              <a:rPr sz="1550" spc="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potential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impact</a:t>
            </a:r>
            <a:r>
              <a:rPr sz="1550" spc="9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zones</a:t>
            </a:r>
            <a:r>
              <a:rPr sz="1550" spc="1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around</a:t>
            </a:r>
            <a:r>
              <a:rPr sz="1550" spc="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launch sites.</a:t>
            </a:r>
            <a:endParaRPr sz="1550">
              <a:latin typeface="Calibri"/>
              <a:cs typeface="Calibri"/>
            </a:endParaRPr>
          </a:p>
          <a:p>
            <a:pPr marL="298450" marR="5080" indent="-286385">
              <a:lnSpc>
                <a:spcPts val="1950"/>
              </a:lnSpc>
              <a:spcBef>
                <a:spcPts val="10"/>
              </a:spcBef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Provides</a:t>
            </a:r>
            <a:r>
              <a:rPr sz="1550" spc="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a</a:t>
            </a:r>
            <a:r>
              <a:rPr sz="1550" spc="9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visual</a:t>
            </a:r>
            <a:r>
              <a:rPr sz="1550" spc="1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representation</a:t>
            </a:r>
            <a:r>
              <a:rPr sz="1550" spc="9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of</a:t>
            </a:r>
            <a:r>
              <a:rPr sz="1550" spc="1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safety</a:t>
            </a:r>
            <a:r>
              <a:rPr sz="1550" spc="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perimeters</a:t>
            </a:r>
            <a:r>
              <a:rPr sz="1550" spc="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7B7B7B"/>
                </a:solidFill>
                <a:latin typeface="Calibri"/>
                <a:cs typeface="Calibri"/>
              </a:rPr>
              <a:t>or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operational</a:t>
            </a:r>
            <a:r>
              <a:rPr sz="1550" spc="2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boundaries.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7B7B7B"/>
              </a:buClr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298450" marR="292100" indent="-286385">
              <a:lnSpc>
                <a:spcPct val="101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Shows</a:t>
            </a:r>
            <a:r>
              <a:rPr sz="1550" spc="204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connections</a:t>
            </a:r>
            <a:r>
              <a:rPr sz="1550" spc="1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or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relationships</a:t>
            </a:r>
            <a:r>
              <a:rPr sz="1550" spc="1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between</a:t>
            </a:r>
            <a:r>
              <a:rPr sz="1550" spc="1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launch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sites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550" spc="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relevant</a:t>
            </a:r>
            <a:r>
              <a:rPr sz="1550" spc="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features.</a:t>
            </a:r>
            <a:endParaRPr sz="1550">
              <a:latin typeface="Calibri"/>
              <a:cs typeface="Calibri"/>
            </a:endParaRPr>
          </a:p>
          <a:p>
            <a:pPr marL="298450" marR="281305" indent="-286385">
              <a:lnSpc>
                <a:spcPct val="105000"/>
              </a:lnSpc>
              <a:buFont typeface="Arial MT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Enhances</a:t>
            </a:r>
            <a:r>
              <a:rPr sz="1550" spc="1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understanding</a:t>
            </a:r>
            <a:r>
              <a:rPr sz="1550" spc="1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of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spatial</a:t>
            </a:r>
            <a:r>
              <a:rPr sz="1550" spc="1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relationships</a:t>
            </a:r>
            <a:r>
              <a:rPr sz="1550" spc="114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7B7B7B"/>
                </a:solidFill>
                <a:latin typeface="Calibri"/>
                <a:cs typeface="Calibri"/>
              </a:rPr>
              <a:t>and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dependencies.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348541"/>
            <a:ext cx="4562475" cy="48367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600" b="1" spc="-10" dirty="0">
                <a:solidFill>
                  <a:srgbClr val="292929"/>
                </a:solidFill>
                <a:latin typeface="Calibri"/>
                <a:cs typeface="Calibri"/>
              </a:rPr>
              <a:t>Plots/Graphs</a:t>
            </a:r>
            <a:r>
              <a:rPr sz="26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292929"/>
                </a:solidFill>
                <a:latin typeface="Calibri"/>
                <a:cs typeface="Calibri"/>
              </a:rPr>
              <a:t>Added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Pie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Chart:</a:t>
            </a:r>
            <a:endParaRPr sz="2000">
              <a:latin typeface="Calibri"/>
              <a:cs typeface="Calibri"/>
            </a:endParaRPr>
          </a:p>
          <a:p>
            <a:pPr marL="355600" marR="329565" indent="-343535">
              <a:lnSpc>
                <a:spcPct val="78200"/>
              </a:lnSpc>
              <a:spcBef>
                <a:spcPts val="10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Displays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successful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failed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2000">
              <a:latin typeface="Calibri"/>
              <a:cs typeface="Calibri"/>
            </a:endParaRPr>
          </a:p>
          <a:p>
            <a:pPr marL="355600" marR="241300" indent="-343535">
              <a:lnSpc>
                <a:spcPts val="1950"/>
              </a:lnSpc>
              <a:spcBef>
                <a:spcPts val="969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visualize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overall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rate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trends.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buClr>
                <a:srgbClr val="292929"/>
              </a:buClr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Success-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Scatter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Plot: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78200"/>
              </a:lnSpc>
              <a:spcBef>
                <a:spcPts val="10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Shows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success.</a:t>
            </a:r>
            <a:endParaRPr sz="2000">
              <a:latin typeface="Calibri"/>
              <a:cs typeface="Calibri"/>
            </a:endParaRPr>
          </a:p>
          <a:p>
            <a:pPr marL="355600" marR="443865" indent="-343535">
              <a:lnSpc>
                <a:spcPts val="1950"/>
              </a:lnSpc>
              <a:spcBef>
                <a:spcPts val="96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Allows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users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explore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how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influences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mission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outcomes.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Github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spacex_dash_app.py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18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71526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Build</a:t>
            </a:r>
            <a:r>
              <a:rPr spc="-4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40" dirty="0"/>
              <a:t>Dashboard </a:t>
            </a:r>
            <a:r>
              <a:rPr dirty="0"/>
              <a:t>with</a:t>
            </a:r>
            <a:r>
              <a:rPr spc="-5" dirty="0"/>
              <a:t> </a:t>
            </a:r>
            <a:r>
              <a:rPr dirty="0"/>
              <a:t>Plotly</a:t>
            </a:r>
            <a:r>
              <a:rPr spc="-5" dirty="0"/>
              <a:t> </a:t>
            </a:r>
            <a:r>
              <a:rPr spc="-70" dirty="0"/>
              <a:t>Dash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7429" y="1330146"/>
            <a:ext cx="5163185" cy="448691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600" b="1" spc="-10" dirty="0">
                <a:solidFill>
                  <a:srgbClr val="292929"/>
                </a:solidFill>
                <a:latin typeface="Calibri"/>
                <a:cs typeface="Calibri"/>
              </a:rPr>
              <a:t>Interactions</a:t>
            </a:r>
            <a:r>
              <a:rPr sz="2600" b="1" spc="-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292929"/>
                </a:solidFill>
                <a:latin typeface="Calibri"/>
                <a:cs typeface="Calibri"/>
              </a:rPr>
              <a:t>Added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Dropdown: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ts val="2100"/>
              </a:lnSpc>
              <a:spcBef>
                <a:spcPts val="107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Enables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users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select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for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2000">
              <a:latin typeface="Calibri"/>
              <a:cs typeface="Calibri"/>
            </a:endParaRPr>
          </a:p>
          <a:p>
            <a:pPr marL="355600" marR="368300" indent="-343535">
              <a:lnSpc>
                <a:spcPts val="2100"/>
              </a:lnSpc>
              <a:spcBef>
                <a:spcPts val="113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Facilitates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filtering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focused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exploration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geographical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locations.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buClr>
                <a:srgbClr val="292929"/>
              </a:buClr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Range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Slider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Payload: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ts val="2290"/>
              </a:lnSpc>
              <a:spcBef>
                <a:spcPts val="7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Allows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users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adjust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ranges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90"/>
              </a:lnSpc>
            </a:pP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dynamically.</a:t>
            </a:r>
            <a:endParaRPr sz="2000">
              <a:latin typeface="Calibri"/>
              <a:cs typeface="Calibri"/>
            </a:endParaRPr>
          </a:p>
          <a:p>
            <a:pPr marL="355600" marR="231775" indent="-343535">
              <a:lnSpc>
                <a:spcPts val="2180"/>
              </a:lnSpc>
              <a:spcBef>
                <a:spcPts val="101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Offers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flexibility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examining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concerning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variations.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510982"/>
            <a:ext cx="4742815" cy="3691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Success</a:t>
            </a:r>
            <a:r>
              <a:rPr sz="2000" b="1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Pie</a:t>
            </a:r>
            <a:r>
              <a:rPr sz="2000" b="1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Chart:</a:t>
            </a:r>
            <a:endParaRPr sz="2000">
              <a:latin typeface="Calibri"/>
              <a:cs typeface="Calibri"/>
            </a:endParaRPr>
          </a:p>
          <a:p>
            <a:pPr marL="182245" marR="767080" indent="-1701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Provides</a:t>
            </a:r>
            <a:r>
              <a:rPr sz="2000" spc="-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2000" spc="-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quick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overview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mission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success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rates.</a:t>
            </a:r>
            <a:endParaRPr sz="2000">
              <a:latin typeface="Calibri"/>
              <a:cs typeface="Calibri"/>
            </a:endParaRPr>
          </a:p>
          <a:p>
            <a:pPr marL="182245" marR="398780" indent="-1701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Essential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stakeholders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understand 	overall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metrics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at</a:t>
            </a:r>
            <a:r>
              <a:rPr sz="2000" spc="-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 glance.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Success-Payload</a:t>
            </a:r>
            <a:r>
              <a:rPr sz="2000" b="1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Scatter</a:t>
            </a:r>
            <a:r>
              <a:rPr sz="2000" b="1" spc="-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525252"/>
                </a:solidFill>
                <a:latin typeface="Calibri"/>
                <a:cs typeface="Calibri"/>
              </a:rPr>
              <a:t>Plot:</a:t>
            </a:r>
            <a:endParaRPr sz="2000">
              <a:latin typeface="Calibri"/>
              <a:cs typeface="Calibri"/>
            </a:endParaRPr>
          </a:p>
          <a:p>
            <a:pPr marL="182245" marR="5080" indent="-1701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Helps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identify</a:t>
            </a:r>
            <a:r>
              <a:rPr sz="2000" spc="-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correlations</a:t>
            </a:r>
            <a:r>
              <a:rPr sz="2000" spc="-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between</a:t>
            </a:r>
            <a:r>
              <a:rPr sz="2000" spc="-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payload 	characteristics</a:t>
            </a:r>
            <a:r>
              <a:rPr sz="2000" spc="-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outcomes.</a:t>
            </a:r>
            <a:endParaRPr sz="2000">
              <a:latin typeface="Calibri"/>
              <a:cs typeface="Calibri"/>
            </a:endParaRPr>
          </a:p>
          <a:p>
            <a:pPr marL="182245" marR="9525" indent="-1701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Supports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decision-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making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processes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related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payload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planning and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operational 	strategies.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19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Reasons</a:t>
            </a:r>
            <a:r>
              <a:rPr dirty="0"/>
              <a:t> for</a:t>
            </a:r>
            <a:r>
              <a:rPr spc="-20" dirty="0"/>
              <a:t> </a:t>
            </a:r>
            <a:r>
              <a:rPr dirty="0"/>
              <a:t>Adding Plots</a:t>
            </a:r>
            <a:r>
              <a:rPr spc="-5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30" dirty="0"/>
              <a:t>Interactions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72478" y="1509966"/>
            <a:ext cx="4969510" cy="3387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b="1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Site</a:t>
            </a:r>
            <a:r>
              <a:rPr sz="2000" b="1" spc="-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Dropdown:</a:t>
            </a:r>
            <a:endParaRPr sz="2000">
              <a:latin typeface="Calibri"/>
              <a:cs typeface="Calibri"/>
            </a:endParaRPr>
          </a:p>
          <a:p>
            <a:pPr marL="182245" marR="5080" indent="-1695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Enhances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user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experience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by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focusing</a:t>
            </a:r>
            <a:r>
              <a:rPr sz="2000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analysis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on</a:t>
            </a:r>
            <a:r>
              <a:rPr sz="2000" spc="-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specific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spc="-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locations.</a:t>
            </a:r>
            <a:endParaRPr sz="2000">
              <a:latin typeface="Calibri"/>
              <a:cs typeface="Calibri"/>
            </a:endParaRPr>
          </a:p>
          <a:p>
            <a:pPr marL="182245" marR="186055" indent="-1695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Allows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spc="-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regional</a:t>
            </a:r>
            <a:r>
              <a:rPr sz="2000" spc="-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insights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spc="-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comparisons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across</a:t>
            </a:r>
            <a:r>
              <a:rPr sz="2000" spc="-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different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sites.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Range</a:t>
            </a:r>
            <a:r>
              <a:rPr sz="2000" b="1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Slider</a:t>
            </a:r>
            <a:r>
              <a:rPr sz="2000" b="1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b="1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Payload:</a:t>
            </a:r>
            <a:endParaRPr sz="2000">
              <a:latin typeface="Calibri"/>
              <a:cs typeface="Calibri"/>
            </a:endParaRPr>
          </a:p>
          <a:p>
            <a:pPr marL="355600" marR="72199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Offers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interactive</a:t>
            </a:r>
            <a:r>
              <a:rPr sz="2000" spc="-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exploration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25252"/>
                </a:solidFill>
                <a:latin typeface="Calibri"/>
                <a:cs typeface="Calibri"/>
              </a:rPr>
              <a:t>how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payload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mass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affects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mission</a:t>
            </a:r>
            <a:r>
              <a:rPr sz="2000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success.</a:t>
            </a:r>
            <a:endParaRPr sz="2000">
              <a:latin typeface="Calibri"/>
              <a:cs typeface="Calibri"/>
            </a:endParaRPr>
          </a:p>
          <a:p>
            <a:pPr marL="355600" marR="28765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Enables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 detailed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analysis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insights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into payload-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related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factors.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84785" indent="-170180">
              <a:lnSpc>
                <a:spcPct val="100000"/>
              </a:lnSpc>
              <a:spcBef>
                <a:spcPts val="815"/>
              </a:spcBef>
              <a:buClr>
                <a:srgbClr val="292929"/>
              </a:buClr>
              <a:buFont typeface="Calibri"/>
              <a:buAutoNum type="arabicPeriod"/>
              <a:tabLst>
                <a:tab pos="184785" algn="l"/>
              </a:tabLst>
            </a:pP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Preprocessing:</a:t>
            </a:r>
          </a:p>
          <a:p>
            <a:pPr marL="300355" lvl="1" indent="-28575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Standardized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variables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contribute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equally.</a:t>
            </a:r>
            <a:endParaRPr sz="1400">
              <a:latin typeface="Calibri"/>
              <a:cs typeface="Calibri"/>
            </a:endParaRPr>
          </a:p>
          <a:p>
            <a:pPr marL="300355" lvl="1" indent="-28575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Split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training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test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sets</a:t>
            </a:r>
            <a:r>
              <a:rPr sz="14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4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validation.</a:t>
            </a:r>
            <a:endParaRPr sz="140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1265"/>
              </a:spcBef>
            </a:pPr>
            <a:endParaRPr sz="1400">
              <a:latin typeface="Calibri"/>
              <a:cs typeface="Calibri"/>
            </a:endParaRPr>
          </a:p>
          <a:p>
            <a:pPr marL="184785" indent="-17018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84785" algn="l"/>
              </a:tabLst>
            </a:pPr>
            <a:r>
              <a:rPr dirty="0"/>
              <a:t>Model</a:t>
            </a:r>
            <a:r>
              <a:rPr spc="5" dirty="0"/>
              <a:t> </a:t>
            </a:r>
            <a:r>
              <a:rPr spc="-10" dirty="0"/>
              <a:t>Selection:</a:t>
            </a:r>
          </a:p>
          <a:p>
            <a:pPr marL="300355" marR="5080" lvl="1" indent="-286385">
              <a:lnSpc>
                <a:spcPts val="1350"/>
              </a:lnSpc>
              <a:spcBef>
                <a:spcPts val="1040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Explored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multiple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classification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algorithms:</a:t>
            </a:r>
            <a:r>
              <a:rPr sz="14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SVM,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Decision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Trees,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K-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Nearest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Neighbors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(KNN).</a:t>
            </a:r>
            <a:endParaRPr sz="1400">
              <a:latin typeface="Calibri"/>
              <a:cs typeface="Calibri"/>
            </a:endParaRPr>
          </a:p>
          <a:p>
            <a:pPr marL="300355" marR="280035" lvl="1" indent="-286385">
              <a:lnSpc>
                <a:spcPts val="1350"/>
              </a:lnSpc>
              <a:spcBef>
                <a:spcPts val="980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Chose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algorithms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 suitable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binary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classification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tasks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on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project</a:t>
            </a:r>
            <a:r>
              <a:rPr sz="14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requirements.</a:t>
            </a:r>
            <a:endParaRPr sz="140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1280"/>
              </a:spcBef>
            </a:pPr>
            <a:endParaRPr sz="1400">
              <a:latin typeface="Calibri"/>
              <a:cs typeface="Calibri"/>
            </a:endParaRPr>
          </a:p>
          <a:p>
            <a:pPr marL="184785" indent="-170180">
              <a:lnSpc>
                <a:spcPct val="100000"/>
              </a:lnSpc>
              <a:buAutoNum type="arabicPeriod" startAt="3"/>
              <a:tabLst>
                <a:tab pos="184785" algn="l"/>
              </a:tabLst>
            </a:pPr>
            <a:r>
              <a:rPr spc="-10" dirty="0"/>
              <a:t>Hyperparameter</a:t>
            </a:r>
            <a:r>
              <a:rPr spc="35" dirty="0"/>
              <a:t> </a:t>
            </a:r>
            <a:r>
              <a:rPr spc="-10" dirty="0"/>
              <a:t>Tuning:</a:t>
            </a:r>
          </a:p>
          <a:p>
            <a:pPr marL="300355" marR="962025" lvl="1" indent="-286385">
              <a:lnSpc>
                <a:spcPct val="76000"/>
              </a:lnSpc>
              <a:spcBef>
                <a:spcPts val="1125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GridSearchCV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 to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systematically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search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optimal hyperparameters.</a:t>
            </a:r>
            <a:endParaRPr sz="1400">
              <a:latin typeface="Calibri"/>
              <a:cs typeface="Calibri"/>
            </a:endParaRPr>
          </a:p>
          <a:p>
            <a:pPr marL="300355" marR="6350" lvl="1" indent="-286385">
              <a:lnSpc>
                <a:spcPts val="1350"/>
              </a:lnSpc>
              <a:spcBef>
                <a:spcPts val="1045"/>
              </a:spcBef>
              <a:buFont typeface="Arial MT"/>
              <a:buChar char="•"/>
              <a:tabLst>
                <a:tab pos="300355" algn="l"/>
              </a:tabLst>
            </a:pP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Tuned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parameters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(SVM),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max_depth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(Decision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Trees),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n_neighbors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(KNN).</a:t>
            </a:r>
            <a:endParaRPr sz="140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1600"/>
              </a:spcBef>
            </a:pPr>
            <a:endParaRPr sz="1400">
              <a:latin typeface="Calibri"/>
              <a:cs typeface="Calibri"/>
            </a:endParaRPr>
          </a:p>
          <a:p>
            <a:pPr marL="14604" marR="648335">
              <a:lnSpc>
                <a:spcPts val="1350"/>
              </a:lnSpc>
            </a:pPr>
            <a:r>
              <a:rPr dirty="0">
                <a:solidFill>
                  <a:srgbClr val="525252"/>
                </a:solidFill>
              </a:rPr>
              <a:t>Github</a:t>
            </a:r>
            <a:r>
              <a:rPr spc="-45" dirty="0">
                <a:solidFill>
                  <a:srgbClr val="525252"/>
                </a:solidFill>
              </a:rPr>
              <a:t> </a:t>
            </a:r>
            <a:r>
              <a:rPr spc="-10" dirty="0">
                <a:solidFill>
                  <a:srgbClr val="525252"/>
                </a:solidFill>
              </a:rPr>
              <a:t>URL:7. SpaceX_Machine_Learning_Prediction_Part_5.jupyterlite.ipynb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20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Predictive</a:t>
            </a:r>
            <a:r>
              <a:rPr spc="-150" dirty="0"/>
              <a:t> </a:t>
            </a:r>
            <a:r>
              <a:rPr spc="-80" dirty="0"/>
              <a:t>Analysis</a:t>
            </a:r>
            <a:r>
              <a:rPr spc="-150" dirty="0"/>
              <a:t> </a:t>
            </a:r>
            <a:r>
              <a:rPr spc="-90" dirty="0"/>
              <a:t>(Classification)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4315" y="1392554"/>
            <a:ext cx="151320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4.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40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Evaluation: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8450" marR="50165" indent="-285750">
              <a:lnSpc>
                <a:spcPts val="1500"/>
              </a:lnSpc>
              <a:spcBef>
                <a:spcPts val="325"/>
              </a:spcBef>
              <a:buFont typeface="Arial MT"/>
              <a:buChar char="•"/>
              <a:tabLst>
                <a:tab pos="298450" algn="l"/>
              </a:tabLst>
            </a:pPr>
            <a:r>
              <a:rPr spc="-10" dirty="0"/>
              <a:t>Evaluated</a:t>
            </a:r>
            <a:r>
              <a:rPr spc="-25" dirty="0"/>
              <a:t> </a:t>
            </a:r>
            <a:r>
              <a:rPr dirty="0"/>
              <a:t>models</a:t>
            </a:r>
            <a:r>
              <a:rPr spc="-50" dirty="0"/>
              <a:t> </a:t>
            </a:r>
            <a:r>
              <a:rPr dirty="0"/>
              <a:t>using</a:t>
            </a:r>
            <a:r>
              <a:rPr spc="-15" dirty="0"/>
              <a:t> </a:t>
            </a:r>
            <a:r>
              <a:rPr spc="-20" dirty="0"/>
              <a:t>cross-</a:t>
            </a:r>
            <a:r>
              <a:rPr spc="-10" dirty="0"/>
              <a:t>validation</a:t>
            </a:r>
            <a:r>
              <a:rPr spc="-25" dirty="0"/>
              <a:t> </a:t>
            </a:r>
            <a:r>
              <a:rPr dirty="0"/>
              <a:t>techniques</a:t>
            </a:r>
            <a:r>
              <a:rPr spc="1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ensure robustness</a:t>
            </a:r>
            <a:r>
              <a:rPr spc="-2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generalizability.</a:t>
            </a:r>
          </a:p>
          <a:p>
            <a:pPr marL="298450" marR="5080" indent="-285750">
              <a:lnSpc>
                <a:spcPts val="1580"/>
              </a:lnSpc>
              <a:spcBef>
                <a:spcPts val="9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Utilized</a:t>
            </a:r>
            <a:r>
              <a:rPr spc="-20" dirty="0"/>
              <a:t> </a:t>
            </a:r>
            <a:r>
              <a:rPr spc="-10" dirty="0"/>
              <a:t>metrics</a:t>
            </a:r>
            <a:r>
              <a:rPr spc="-50" dirty="0"/>
              <a:t> </a:t>
            </a:r>
            <a:r>
              <a:rPr dirty="0"/>
              <a:t>like</a:t>
            </a:r>
            <a:r>
              <a:rPr spc="-50" dirty="0"/>
              <a:t> </a:t>
            </a:r>
            <a:r>
              <a:rPr spc="-10" dirty="0"/>
              <a:t>accuracy,</a:t>
            </a:r>
            <a:r>
              <a:rPr spc="5" dirty="0"/>
              <a:t> </a:t>
            </a:r>
            <a:r>
              <a:rPr spc="-10" dirty="0"/>
              <a:t>precision,</a:t>
            </a:r>
            <a:r>
              <a:rPr spc="-65" dirty="0"/>
              <a:t> </a:t>
            </a:r>
            <a:r>
              <a:rPr dirty="0"/>
              <a:t>recall,</a:t>
            </a:r>
            <a:r>
              <a:rPr spc="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45" dirty="0"/>
              <a:t>F1-</a:t>
            </a:r>
            <a:r>
              <a:rPr dirty="0"/>
              <a:t>score</a:t>
            </a:r>
            <a:r>
              <a:rPr spc="20" dirty="0"/>
              <a:t> </a:t>
            </a:r>
            <a:r>
              <a:rPr spc="-25" dirty="0"/>
              <a:t>to </a:t>
            </a:r>
            <a:r>
              <a:rPr dirty="0"/>
              <a:t>assess</a:t>
            </a:r>
            <a:r>
              <a:rPr spc="-5" dirty="0"/>
              <a:t> </a:t>
            </a:r>
            <a:r>
              <a:rPr dirty="0"/>
              <a:t>model</a:t>
            </a:r>
            <a:r>
              <a:rPr spc="-65" dirty="0"/>
              <a:t> </a:t>
            </a:r>
            <a:r>
              <a:rPr spc="-10" dirty="0"/>
              <a:t>performance.</a:t>
            </a: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pc="-10" dirty="0"/>
          </a:p>
          <a:p>
            <a:pPr marL="182245" indent="-16954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182245" algn="l"/>
              </a:tabLst>
            </a:pPr>
            <a:r>
              <a:rPr dirty="0"/>
              <a:t>Improvement</a:t>
            </a:r>
            <a:r>
              <a:rPr spc="-80" dirty="0"/>
              <a:t> </a:t>
            </a:r>
            <a:r>
              <a:rPr spc="-10" dirty="0"/>
              <a:t>Iterations:</a:t>
            </a:r>
          </a:p>
          <a:p>
            <a:pPr marL="298450" marR="81915" lvl="1" indent="-285750">
              <a:lnSpc>
                <a:spcPts val="1500"/>
              </a:lnSpc>
              <a:spcBef>
                <a:spcPts val="994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Iteratively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adjusted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validation results.</a:t>
            </a:r>
            <a:endParaRPr sz="1400">
              <a:latin typeface="Calibri"/>
              <a:cs typeface="Calibri"/>
            </a:endParaRPr>
          </a:p>
          <a:p>
            <a:pPr marL="298450" marR="66040" lvl="1" indent="-285750">
              <a:lnSpc>
                <a:spcPts val="1500"/>
              </a:lnSpc>
              <a:spcBef>
                <a:spcPts val="105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Fine-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tuned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hyperparameters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maximize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predictive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accuracy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reliability.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4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AutoNum type="arabicPeriod" startAt="6"/>
              <a:tabLst>
                <a:tab pos="182245" algn="l"/>
              </a:tabLst>
            </a:pPr>
            <a:r>
              <a:rPr dirty="0"/>
              <a:t>Selection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Best </a:t>
            </a:r>
            <a:r>
              <a:rPr spc="-10" dirty="0"/>
              <a:t>Performing</a:t>
            </a:r>
            <a:r>
              <a:rPr spc="-35" dirty="0"/>
              <a:t> </a:t>
            </a:r>
            <a:r>
              <a:rPr spc="-10" dirty="0"/>
              <a:t>Model:</a:t>
            </a:r>
          </a:p>
          <a:p>
            <a:pPr marL="298450" marR="29209" lvl="1" indent="-285750">
              <a:lnSpc>
                <a:spcPts val="1500"/>
              </a:lnSpc>
              <a:spcBef>
                <a:spcPts val="100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Identified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highest</a:t>
            </a:r>
            <a:r>
              <a:rPr sz="14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accuracy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test</a:t>
            </a:r>
            <a:r>
              <a:rPr sz="14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set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as the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best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performer.</a:t>
            </a:r>
            <a:endParaRPr sz="1400">
              <a:latin typeface="Calibri"/>
              <a:cs typeface="Calibri"/>
            </a:endParaRPr>
          </a:p>
          <a:p>
            <a:pPr marL="298450" marR="200660" lvl="1" indent="-285750">
              <a:lnSpc>
                <a:spcPts val="1500"/>
              </a:lnSpc>
              <a:spcBef>
                <a:spcPts val="105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Considered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both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training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test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set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avoid overfitting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world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applicability.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Predictive</a:t>
            </a:r>
            <a:r>
              <a:rPr spc="-150" dirty="0"/>
              <a:t> </a:t>
            </a:r>
            <a:r>
              <a:rPr spc="-80" dirty="0"/>
              <a:t>Analysis</a:t>
            </a:r>
            <a:r>
              <a:rPr spc="-150" dirty="0"/>
              <a:t> </a:t>
            </a:r>
            <a:r>
              <a:rPr spc="-65" dirty="0"/>
              <a:t>(Flowchart)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22726" y="1608200"/>
            <a:ext cx="1936750" cy="1725930"/>
            <a:chOff x="3522726" y="1608200"/>
            <a:chExt cx="1936750" cy="1725930"/>
          </a:xfrm>
        </p:grpSpPr>
        <p:sp>
          <p:nvSpPr>
            <p:cNvPr id="4" name="object 4"/>
            <p:cNvSpPr/>
            <p:nvPr/>
          </p:nvSpPr>
          <p:spPr>
            <a:xfrm>
              <a:off x="3829050" y="1904999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406C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9076" y="1614550"/>
              <a:ext cx="1924050" cy="1162050"/>
            </a:xfrm>
            <a:custGeom>
              <a:avLst/>
              <a:gdLst/>
              <a:ahLst/>
              <a:cxnLst/>
              <a:rect l="l" t="t" r="r" b="b"/>
              <a:pathLst>
                <a:path w="1924050" h="1162050">
                  <a:moveTo>
                    <a:pt x="1807845" y="0"/>
                  </a:moveTo>
                  <a:lnTo>
                    <a:pt x="116077" y="0"/>
                  </a:lnTo>
                  <a:lnTo>
                    <a:pt x="70883" y="9120"/>
                  </a:lnTo>
                  <a:lnTo>
                    <a:pt x="33988" y="34004"/>
                  </a:lnTo>
                  <a:lnTo>
                    <a:pt x="9118" y="70937"/>
                  </a:lnTo>
                  <a:lnTo>
                    <a:pt x="0" y="116204"/>
                  </a:lnTo>
                  <a:lnTo>
                    <a:pt x="0" y="1045845"/>
                  </a:lnTo>
                  <a:lnTo>
                    <a:pt x="9118" y="1091058"/>
                  </a:lnTo>
                  <a:lnTo>
                    <a:pt x="33988" y="1127998"/>
                  </a:lnTo>
                  <a:lnTo>
                    <a:pt x="70883" y="1152911"/>
                  </a:lnTo>
                  <a:lnTo>
                    <a:pt x="116077" y="1162050"/>
                  </a:lnTo>
                  <a:lnTo>
                    <a:pt x="1807845" y="1162050"/>
                  </a:lnTo>
                  <a:lnTo>
                    <a:pt x="1853058" y="1152911"/>
                  </a:lnTo>
                  <a:lnTo>
                    <a:pt x="1889998" y="1127998"/>
                  </a:lnTo>
                  <a:lnTo>
                    <a:pt x="1914911" y="1091058"/>
                  </a:lnTo>
                  <a:lnTo>
                    <a:pt x="1924050" y="1045845"/>
                  </a:lnTo>
                  <a:lnTo>
                    <a:pt x="1924050" y="116204"/>
                  </a:lnTo>
                  <a:lnTo>
                    <a:pt x="1914911" y="70937"/>
                  </a:lnTo>
                  <a:lnTo>
                    <a:pt x="1889998" y="34004"/>
                  </a:lnTo>
                  <a:lnTo>
                    <a:pt x="1853058" y="9120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3C67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29076" y="1614550"/>
              <a:ext cx="1924050" cy="1162050"/>
            </a:xfrm>
            <a:custGeom>
              <a:avLst/>
              <a:gdLst/>
              <a:ahLst/>
              <a:cxnLst/>
              <a:rect l="l" t="t" r="r" b="b"/>
              <a:pathLst>
                <a:path w="1924050" h="1162050">
                  <a:moveTo>
                    <a:pt x="0" y="116204"/>
                  </a:moveTo>
                  <a:lnTo>
                    <a:pt x="9118" y="70937"/>
                  </a:lnTo>
                  <a:lnTo>
                    <a:pt x="33988" y="34004"/>
                  </a:lnTo>
                  <a:lnTo>
                    <a:pt x="70883" y="9120"/>
                  </a:lnTo>
                  <a:lnTo>
                    <a:pt x="116077" y="0"/>
                  </a:lnTo>
                  <a:lnTo>
                    <a:pt x="1807845" y="0"/>
                  </a:lnTo>
                  <a:lnTo>
                    <a:pt x="1853058" y="9120"/>
                  </a:lnTo>
                  <a:lnTo>
                    <a:pt x="1889998" y="34004"/>
                  </a:lnTo>
                  <a:lnTo>
                    <a:pt x="1914911" y="70937"/>
                  </a:lnTo>
                  <a:lnTo>
                    <a:pt x="1924050" y="116204"/>
                  </a:lnTo>
                  <a:lnTo>
                    <a:pt x="1924050" y="1045845"/>
                  </a:lnTo>
                  <a:lnTo>
                    <a:pt x="1914911" y="1091058"/>
                  </a:lnTo>
                  <a:lnTo>
                    <a:pt x="1889998" y="1127998"/>
                  </a:lnTo>
                  <a:lnTo>
                    <a:pt x="1853058" y="1152911"/>
                  </a:lnTo>
                  <a:lnTo>
                    <a:pt x="1807845" y="1162050"/>
                  </a:lnTo>
                  <a:lnTo>
                    <a:pt x="116077" y="1162050"/>
                  </a:lnTo>
                  <a:lnTo>
                    <a:pt x="70883" y="1152911"/>
                  </a:lnTo>
                  <a:lnTo>
                    <a:pt x="33988" y="1127998"/>
                  </a:lnTo>
                  <a:lnTo>
                    <a:pt x="9118" y="1091058"/>
                  </a:lnTo>
                  <a:lnTo>
                    <a:pt x="0" y="1045845"/>
                  </a:lnTo>
                  <a:lnTo>
                    <a:pt x="0" y="11620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57295" y="1851977"/>
            <a:ext cx="1461135" cy="6115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479425">
              <a:lnSpc>
                <a:spcPts val="2180"/>
              </a:lnSpc>
              <a:spcBef>
                <a:spcPts val="380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 Preprocessing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22726" y="3056001"/>
            <a:ext cx="1936750" cy="1725930"/>
            <a:chOff x="3522726" y="3056001"/>
            <a:chExt cx="1936750" cy="1725930"/>
          </a:xfrm>
        </p:grpSpPr>
        <p:sp>
          <p:nvSpPr>
            <p:cNvPr id="9" name="object 9"/>
            <p:cNvSpPr/>
            <p:nvPr/>
          </p:nvSpPr>
          <p:spPr>
            <a:xfrm>
              <a:off x="3829050" y="3352800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567A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9076" y="30623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1808734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69"/>
                  </a:lnTo>
                  <a:lnTo>
                    <a:pt x="33734" y="1118727"/>
                  </a:lnTo>
                  <a:lnTo>
                    <a:pt x="70348" y="1143454"/>
                  </a:lnTo>
                  <a:lnTo>
                    <a:pt x="115188" y="1152525"/>
                  </a:lnTo>
                  <a:lnTo>
                    <a:pt x="1808734" y="1152525"/>
                  </a:lnTo>
                  <a:lnTo>
                    <a:pt x="1853594" y="1143454"/>
                  </a:lnTo>
                  <a:lnTo>
                    <a:pt x="1890252" y="1118727"/>
                  </a:lnTo>
                  <a:lnTo>
                    <a:pt x="1914979" y="1082069"/>
                  </a:lnTo>
                  <a:lnTo>
                    <a:pt x="1924050" y="1037209"/>
                  </a:lnTo>
                  <a:lnTo>
                    <a:pt x="1924050" y="115188"/>
                  </a:lnTo>
                  <a:lnTo>
                    <a:pt x="1914979" y="70348"/>
                  </a:lnTo>
                  <a:lnTo>
                    <a:pt x="1890252" y="33734"/>
                  </a:lnTo>
                  <a:lnTo>
                    <a:pt x="1853594" y="9050"/>
                  </a:lnTo>
                  <a:lnTo>
                    <a:pt x="1808734" y="0"/>
                  </a:lnTo>
                  <a:close/>
                </a:path>
              </a:pathLst>
            </a:custGeom>
            <a:solidFill>
              <a:srgbClr val="497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29076" y="30623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08734" y="0"/>
                  </a:lnTo>
                  <a:lnTo>
                    <a:pt x="1853594" y="9050"/>
                  </a:lnTo>
                  <a:lnTo>
                    <a:pt x="1890252" y="33734"/>
                  </a:lnTo>
                  <a:lnTo>
                    <a:pt x="1914979" y="70348"/>
                  </a:lnTo>
                  <a:lnTo>
                    <a:pt x="1924050" y="115188"/>
                  </a:lnTo>
                  <a:lnTo>
                    <a:pt x="1924050" y="1037209"/>
                  </a:lnTo>
                  <a:lnTo>
                    <a:pt x="1914979" y="1082069"/>
                  </a:lnTo>
                  <a:lnTo>
                    <a:pt x="1890252" y="1118727"/>
                  </a:lnTo>
                  <a:lnTo>
                    <a:pt x="1853594" y="1143454"/>
                  </a:lnTo>
                  <a:lnTo>
                    <a:pt x="1808734" y="1152525"/>
                  </a:lnTo>
                  <a:lnTo>
                    <a:pt x="115188" y="1152525"/>
                  </a:lnTo>
                  <a:lnTo>
                    <a:pt x="70348" y="1143454"/>
                  </a:lnTo>
                  <a:lnTo>
                    <a:pt x="33734" y="1118727"/>
                  </a:lnTo>
                  <a:lnTo>
                    <a:pt x="9050" y="1082069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74846" y="3300730"/>
            <a:ext cx="97218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6515"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Selection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22726" y="4503801"/>
            <a:ext cx="2954655" cy="1165225"/>
            <a:chOff x="3522726" y="4503801"/>
            <a:chExt cx="2954655" cy="1165225"/>
          </a:xfrm>
        </p:grpSpPr>
        <p:sp>
          <p:nvSpPr>
            <p:cNvPr id="14" name="object 14"/>
            <p:cNvSpPr/>
            <p:nvPr/>
          </p:nvSpPr>
          <p:spPr>
            <a:xfrm>
              <a:off x="3914775" y="4705350"/>
              <a:ext cx="2562225" cy="171450"/>
            </a:xfrm>
            <a:custGeom>
              <a:avLst/>
              <a:gdLst/>
              <a:ahLst/>
              <a:cxnLst/>
              <a:rect l="l" t="t" r="r" b="b"/>
              <a:pathLst>
                <a:path w="2562225" h="171450">
                  <a:moveTo>
                    <a:pt x="2562225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2562225" y="171450"/>
                  </a:lnTo>
                  <a:lnTo>
                    <a:pt x="2562225" y="0"/>
                  </a:lnTo>
                  <a:close/>
                </a:path>
              </a:pathLst>
            </a:custGeom>
            <a:solidFill>
              <a:srgbClr val="6E8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29076" y="45101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1808734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70"/>
                  </a:lnTo>
                  <a:lnTo>
                    <a:pt x="33734" y="1118704"/>
                  </a:lnTo>
                  <a:lnTo>
                    <a:pt x="70348" y="1143404"/>
                  </a:lnTo>
                  <a:lnTo>
                    <a:pt x="115188" y="1152461"/>
                  </a:lnTo>
                  <a:lnTo>
                    <a:pt x="1808734" y="1152461"/>
                  </a:lnTo>
                  <a:lnTo>
                    <a:pt x="1853594" y="1143404"/>
                  </a:lnTo>
                  <a:lnTo>
                    <a:pt x="1890252" y="1118704"/>
                  </a:lnTo>
                  <a:lnTo>
                    <a:pt x="1914979" y="1082070"/>
                  </a:lnTo>
                  <a:lnTo>
                    <a:pt x="1924050" y="1037209"/>
                  </a:lnTo>
                  <a:lnTo>
                    <a:pt x="1924050" y="115188"/>
                  </a:lnTo>
                  <a:lnTo>
                    <a:pt x="1914979" y="70348"/>
                  </a:lnTo>
                  <a:lnTo>
                    <a:pt x="1890252" y="33734"/>
                  </a:lnTo>
                  <a:lnTo>
                    <a:pt x="1853594" y="9050"/>
                  </a:lnTo>
                  <a:lnTo>
                    <a:pt x="1808734" y="0"/>
                  </a:lnTo>
                  <a:close/>
                </a:path>
              </a:pathLst>
            </a:custGeom>
            <a:solidFill>
              <a:srgbClr val="5F8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29076" y="45101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08734" y="0"/>
                  </a:lnTo>
                  <a:lnTo>
                    <a:pt x="1853594" y="9050"/>
                  </a:lnTo>
                  <a:lnTo>
                    <a:pt x="1890252" y="33734"/>
                  </a:lnTo>
                  <a:lnTo>
                    <a:pt x="1914979" y="70348"/>
                  </a:lnTo>
                  <a:lnTo>
                    <a:pt x="1924050" y="115188"/>
                  </a:lnTo>
                  <a:lnTo>
                    <a:pt x="1924050" y="1037209"/>
                  </a:lnTo>
                  <a:lnTo>
                    <a:pt x="1914979" y="1082070"/>
                  </a:lnTo>
                  <a:lnTo>
                    <a:pt x="1890252" y="1118704"/>
                  </a:lnTo>
                  <a:lnTo>
                    <a:pt x="1853594" y="1143404"/>
                  </a:lnTo>
                  <a:lnTo>
                    <a:pt x="1808734" y="1152461"/>
                  </a:lnTo>
                  <a:lnTo>
                    <a:pt x="115188" y="1152461"/>
                  </a:lnTo>
                  <a:lnTo>
                    <a:pt x="70348" y="1143404"/>
                  </a:lnTo>
                  <a:lnTo>
                    <a:pt x="33734" y="1118704"/>
                  </a:lnTo>
                  <a:lnTo>
                    <a:pt x="9050" y="1082070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22675" y="4749800"/>
            <a:ext cx="173545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Hyperparameter</a:t>
            </a:r>
            <a:endParaRPr sz="2000">
              <a:latin typeface="Calibri"/>
              <a:cs typeface="Calibri"/>
            </a:endParaRPr>
          </a:p>
          <a:p>
            <a:pPr marL="4445"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Tuning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84951" y="3352800"/>
            <a:ext cx="1946275" cy="2316480"/>
            <a:chOff x="6084951" y="3352800"/>
            <a:chExt cx="1946275" cy="2316480"/>
          </a:xfrm>
        </p:grpSpPr>
        <p:sp>
          <p:nvSpPr>
            <p:cNvPr id="19" name="object 19"/>
            <p:cNvSpPr/>
            <p:nvPr/>
          </p:nvSpPr>
          <p:spPr>
            <a:xfrm>
              <a:off x="6391275" y="3352800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869C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1301" y="45101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1818258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70"/>
                  </a:lnTo>
                  <a:lnTo>
                    <a:pt x="33734" y="1118704"/>
                  </a:lnTo>
                  <a:lnTo>
                    <a:pt x="70348" y="1143404"/>
                  </a:lnTo>
                  <a:lnTo>
                    <a:pt x="115188" y="1152461"/>
                  </a:lnTo>
                  <a:lnTo>
                    <a:pt x="1818258" y="1152461"/>
                  </a:lnTo>
                  <a:lnTo>
                    <a:pt x="1863119" y="1143404"/>
                  </a:lnTo>
                  <a:lnTo>
                    <a:pt x="1899777" y="1118704"/>
                  </a:lnTo>
                  <a:lnTo>
                    <a:pt x="1924504" y="1082070"/>
                  </a:lnTo>
                  <a:lnTo>
                    <a:pt x="1933575" y="1037209"/>
                  </a:lnTo>
                  <a:lnTo>
                    <a:pt x="1933575" y="115188"/>
                  </a:lnTo>
                  <a:lnTo>
                    <a:pt x="1924504" y="70348"/>
                  </a:lnTo>
                  <a:lnTo>
                    <a:pt x="1899777" y="33734"/>
                  </a:lnTo>
                  <a:lnTo>
                    <a:pt x="1863119" y="9050"/>
                  </a:lnTo>
                  <a:lnTo>
                    <a:pt x="1818258" y="0"/>
                  </a:lnTo>
                  <a:close/>
                </a:path>
              </a:pathLst>
            </a:custGeom>
            <a:solidFill>
              <a:srgbClr val="758F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1301" y="45101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18258" y="0"/>
                  </a:lnTo>
                  <a:lnTo>
                    <a:pt x="1863119" y="9050"/>
                  </a:lnTo>
                  <a:lnTo>
                    <a:pt x="1899777" y="33734"/>
                  </a:lnTo>
                  <a:lnTo>
                    <a:pt x="1924504" y="70348"/>
                  </a:lnTo>
                  <a:lnTo>
                    <a:pt x="1933575" y="115188"/>
                  </a:lnTo>
                  <a:lnTo>
                    <a:pt x="1933575" y="1037209"/>
                  </a:lnTo>
                  <a:lnTo>
                    <a:pt x="1924504" y="1082070"/>
                  </a:lnTo>
                  <a:lnTo>
                    <a:pt x="1899777" y="1118704"/>
                  </a:lnTo>
                  <a:lnTo>
                    <a:pt x="1863119" y="1143404"/>
                  </a:lnTo>
                  <a:lnTo>
                    <a:pt x="1818258" y="1152461"/>
                  </a:lnTo>
                  <a:lnTo>
                    <a:pt x="115188" y="1152461"/>
                  </a:lnTo>
                  <a:lnTo>
                    <a:pt x="70348" y="1143404"/>
                  </a:lnTo>
                  <a:lnTo>
                    <a:pt x="33734" y="1118704"/>
                  </a:lnTo>
                  <a:lnTo>
                    <a:pt x="9050" y="1082070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79540" y="4749800"/>
            <a:ext cx="110553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Evaluation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84951" y="1905000"/>
            <a:ext cx="1946275" cy="2316480"/>
            <a:chOff x="6084951" y="1905000"/>
            <a:chExt cx="1946275" cy="2316480"/>
          </a:xfrm>
        </p:grpSpPr>
        <p:sp>
          <p:nvSpPr>
            <p:cNvPr id="24" name="object 24"/>
            <p:cNvSpPr/>
            <p:nvPr/>
          </p:nvSpPr>
          <p:spPr>
            <a:xfrm>
              <a:off x="6391275" y="1905000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9EA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91301" y="30623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1818258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69"/>
                  </a:lnTo>
                  <a:lnTo>
                    <a:pt x="33734" y="1118727"/>
                  </a:lnTo>
                  <a:lnTo>
                    <a:pt x="70348" y="1143454"/>
                  </a:lnTo>
                  <a:lnTo>
                    <a:pt x="115188" y="1152525"/>
                  </a:lnTo>
                  <a:lnTo>
                    <a:pt x="1818258" y="1152525"/>
                  </a:lnTo>
                  <a:lnTo>
                    <a:pt x="1863119" y="1143454"/>
                  </a:lnTo>
                  <a:lnTo>
                    <a:pt x="1899777" y="1118727"/>
                  </a:lnTo>
                  <a:lnTo>
                    <a:pt x="1924504" y="1082069"/>
                  </a:lnTo>
                  <a:lnTo>
                    <a:pt x="1933575" y="1037209"/>
                  </a:lnTo>
                  <a:lnTo>
                    <a:pt x="1933575" y="115188"/>
                  </a:lnTo>
                  <a:lnTo>
                    <a:pt x="1924504" y="70348"/>
                  </a:lnTo>
                  <a:lnTo>
                    <a:pt x="1899777" y="33734"/>
                  </a:lnTo>
                  <a:lnTo>
                    <a:pt x="1863119" y="9050"/>
                  </a:lnTo>
                  <a:lnTo>
                    <a:pt x="1818258" y="0"/>
                  </a:lnTo>
                  <a:close/>
                </a:path>
              </a:pathLst>
            </a:custGeom>
            <a:solidFill>
              <a:srgbClr val="889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91301" y="30623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18258" y="0"/>
                  </a:lnTo>
                  <a:lnTo>
                    <a:pt x="1863119" y="9050"/>
                  </a:lnTo>
                  <a:lnTo>
                    <a:pt x="1899777" y="33734"/>
                  </a:lnTo>
                  <a:lnTo>
                    <a:pt x="1924504" y="70348"/>
                  </a:lnTo>
                  <a:lnTo>
                    <a:pt x="1933575" y="115188"/>
                  </a:lnTo>
                  <a:lnTo>
                    <a:pt x="1933575" y="1037209"/>
                  </a:lnTo>
                  <a:lnTo>
                    <a:pt x="1924504" y="1082069"/>
                  </a:lnTo>
                  <a:lnTo>
                    <a:pt x="1899777" y="1118727"/>
                  </a:lnTo>
                  <a:lnTo>
                    <a:pt x="1863119" y="1143454"/>
                  </a:lnTo>
                  <a:lnTo>
                    <a:pt x="1818258" y="1152525"/>
                  </a:lnTo>
                  <a:lnTo>
                    <a:pt x="115188" y="1152525"/>
                  </a:lnTo>
                  <a:lnTo>
                    <a:pt x="70348" y="1143454"/>
                  </a:lnTo>
                  <a:lnTo>
                    <a:pt x="33734" y="1118727"/>
                  </a:lnTo>
                  <a:lnTo>
                    <a:pt x="9050" y="1082069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43650" y="3300730"/>
            <a:ext cx="1426210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Improvement</a:t>
            </a:r>
            <a:endParaRPr sz="2000">
              <a:latin typeface="Calibri"/>
              <a:cs typeface="Calibri"/>
            </a:endParaRPr>
          </a:p>
          <a:p>
            <a:pPr marL="2540"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Iterations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84951" y="1608200"/>
            <a:ext cx="1946275" cy="1174750"/>
            <a:chOff x="6084951" y="1608200"/>
            <a:chExt cx="1946275" cy="1174750"/>
          </a:xfrm>
        </p:grpSpPr>
        <p:sp>
          <p:nvSpPr>
            <p:cNvPr id="29" name="object 29"/>
            <p:cNvSpPr/>
            <p:nvPr/>
          </p:nvSpPr>
          <p:spPr>
            <a:xfrm>
              <a:off x="6091301" y="1614550"/>
              <a:ext cx="1933575" cy="1162050"/>
            </a:xfrm>
            <a:custGeom>
              <a:avLst/>
              <a:gdLst/>
              <a:ahLst/>
              <a:cxnLst/>
              <a:rect l="l" t="t" r="r" b="b"/>
              <a:pathLst>
                <a:path w="1933575" h="1162050">
                  <a:moveTo>
                    <a:pt x="1817370" y="0"/>
                  </a:moveTo>
                  <a:lnTo>
                    <a:pt x="116204" y="0"/>
                  </a:lnTo>
                  <a:lnTo>
                    <a:pt x="70937" y="9120"/>
                  </a:lnTo>
                  <a:lnTo>
                    <a:pt x="34004" y="34004"/>
                  </a:lnTo>
                  <a:lnTo>
                    <a:pt x="9120" y="70937"/>
                  </a:lnTo>
                  <a:lnTo>
                    <a:pt x="0" y="116204"/>
                  </a:lnTo>
                  <a:lnTo>
                    <a:pt x="0" y="1045845"/>
                  </a:lnTo>
                  <a:lnTo>
                    <a:pt x="9120" y="1091058"/>
                  </a:lnTo>
                  <a:lnTo>
                    <a:pt x="34004" y="1127998"/>
                  </a:lnTo>
                  <a:lnTo>
                    <a:pt x="70937" y="1152911"/>
                  </a:lnTo>
                  <a:lnTo>
                    <a:pt x="116204" y="1162050"/>
                  </a:lnTo>
                  <a:lnTo>
                    <a:pt x="1817370" y="1162050"/>
                  </a:lnTo>
                  <a:lnTo>
                    <a:pt x="1862583" y="1152911"/>
                  </a:lnTo>
                  <a:lnTo>
                    <a:pt x="1899523" y="1127998"/>
                  </a:lnTo>
                  <a:lnTo>
                    <a:pt x="1924436" y="1091058"/>
                  </a:lnTo>
                  <a:lnTo>
                    <a:pt x="1933575" y="1045845"/>
                  </a:lnTo>
                  <a:lnTo>
                    <a:pt x="1933575" y="116204"/>
                  </a:lnTo>
                  <a:lnTo>
                    <a:pt x="1924436" y="70937"/>
                  </a:lnTo>
                  <a:lnTo>
                    <a:pt x="1899523" y="34004"/>
                  </a:lnTo>
                  <a:lnTo>
                    <a:pt x="1862583" y="9120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EA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91301" y="1614550"/>
              <a:ext cx="1933575" cy="1162050"/>
            </a:xfrm>
            <a:custGeom>
              <a:avLst/>
              <a:gdLst/>
              <a:ahLst/>
              <a:cxnLst/>
              <a:rect l="l" t="t" r="r" b="b"/>
              <a:pathLst>
                <a:path w="1933575" h="1162050">
                  <a:moveTo>
                    <a:pt x="0" y="116204"/>
                  </a:moveTo>
                  <a:lnTo>
                    <a:pt x="9120" y="70937"/>
                  </a:lnTo>
                  <a:lnTo>
                    <a:pt x="34004" y="34004"/>
                  </a:lnTo>
                  <a:lnTo>
                    <a:pt x="70937" y="9120"/>
                  </a:lnTo>
                  <a:lnTo>
                    <a:pt x="116204" y="0"/>
                  </a:lnTo>
                  <a:lnTo>
                    <a:pt x="1817370" y="0"/>
                  </a:lnTo>
                  <a:lnTo>
                    <a:pt x="1862583" y="9120"/>
                  </a:lnTo>
                  <a:lnTo>
                    <a:pt x="1899523" y="34004"/>
                  </a:lnTo>
                  <a:lnTo>
                    <a:pt x="1924436" y="70937"/>
                  </a:lnTo>
                  <a:lnTo>
                    <a:pt x="1933575" y="116204"/>
                  </a:lnTo>
                  <a:lnTo>
                    <a:pt x="1933575" y="1045845"/>
                  </a:lnTo>
                  <a:lnTo>
                    <a:pt x="1924436" y="1091058"/>
                  </a:lnTo>
                  <a:lnTo>
                    <a:pt x="1899523" y="1127998"/>
                  </a:lnTo>
                  <a:lnTo>
                    <a:pt x="1862583" y="1152911"/>
                  </a:lnTo>
                  <a:lnTo>
                    <a:pt x="1817370" y="1162050"/>
                  </a:lnTo>
                  <a:lnTo>
                    <a:pt x="116204" y="1162050"/>
                  </a:lnTo>
                  <a:lnTo>
                    <a:pt x="70937" y="1152911"/>
                  </a:lnTo>
                  <a:lnTo>
                    <a:pt x="34004" y="1127998"/>
                  </a:lnTo>
                  <a:lnTo>
                    <a:pt x="9120" y="1091058"/>
                  </a:lnTo>
                  <a:lnTo>
                    <a:pt x="0" y="1045845"/>
                  </a:lnTo>
                  <a:lnTo>
                    <a:pt x="0" y="11620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217665" y="1851977"/>
            <a:ext cx="1682750" cy="6115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4825" marR="5080" indent="-492759">
              <a:lnSpc>
                <a:spcPts val="2180"/>
              </a:lnSpc>
              <a:spcBef>
                <a:spcPts val="38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Performing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21</a:t>
            </a:fld>
            <a:endParaRPr spc="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392" y="4200421"/>
            <a:ext cx="11273155" cy="2186305"/>
            <a:chOff x="533392" y="4200421"/>
            <a:chExt cx="11273155" cy="2186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92" y="4200421"/>
              <a:ext cx="11272916" cy="21861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7212" y="4224337"/>
              <a:ext cx="11172825" cy="2085975"/>
            </a:xfrm>
            <a:custGeom>
              <a:avLst/>
              <a:gdLst/>
              <a:ahLst/>
              <a:cxnLst/>
              <a:rect l="l" t="t" r="r" b="b"/>
              <a:pathLst>
                <a:path w="11172825" h="2085975">
                  <a:moveTo>
                    <a:pt x="1117282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172825" y="2085975"/>
                  </a:lnTo>
                  <a:lnTo>
                    <a:pt x="11172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7212" y="4224337"/>
              <a:ext cx="11172825" cy="2085975"/>
            </a:xfrm>
            <a:custGeom>
              <a:avLst/>
              <a:gdLst/>
              <a:ahLst/>
              <a:cxnLst/>
              <a:rect l="l" t="t" r="r" b="b"/>
              <a:pathLst>
                <a:path w="11172825" h="2085975">
                  <a:moveTo>
                    <a:pt x="0" y="2085975"/>
                  </a:moveTo>
                  <a:lnTo>
                    <a:pt x="11172825" y="2085975"/>
                  </a:lnTo>
                  <a:lnTo>
                    <a:pt x="11172825" y="0"/>
                  </a:lnTo>
                  <a:lnTo>
                    <a:pt x="0" y="0"/>
                  </a:lnTo>
                  <a:lnTo>
                    <a:pt x="0" y="2085975"/>
                  </a:lnTo>
                  <a:close/>
                </a:path>
              </a:pathLst>
            </a:custGeom>
            <a:ln w="12700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7575" y="4999291"/>
            <a:ext cx="1039494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0" dirty="0">
                <a:latin typeface="Calibri Light"/>
                <a:cs typeface="Calibri Light"/>
              </a:rPr>
              <a:t>Results</a:t>
            </a:r>
            <a:endParaRPr sz="275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2400" y="0"/>
            <a:ext cx="11906250" cy="5991225"/>
            <a:chOff x="152400" y="0"/>
            <a:chExt cx="11906250" cy="59912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0"/>
              <a:ext cx="5438775" cy="45339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0700" y="0"/>
              <a:ext cx="6457950" cy="45339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85775" y="4914900"/>
              <a:ext cx="133350" cy="704850"/>
            </a:xfrm>
            <a:custGeom>
              <a:avLst/>
              <a:gdLst/>
              <a:ahLst/>
              <a:cxnLst/>
              <a:rect l="l" t="t" r="r" b="b"/>
              <a:pathLst>
                <a:path w="133350" h="704850">
                  <a:moveTo>
                    <a:pt x="133350" y="0"/>
                  </a:moveTo>
                  <a:lnTo>
                    <a:pt x="0" y="0"/>
                  </a:lnTo>
                  <a:lnTo>
                    <a:pt x="0" y="704850"/>
                  </a:lnTo>
                  <a:lnTo>
                    <a:pt x="133350" y="70485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33875" y="4533900"/>
              <a:ext cx="19050" cy="1457325"/>
            </a:xfrm>
            <a:custGeom>
              <a:avLst/>
              <a:gdLst/>
              <a:ahLst/>
              <a:cxnLst/>
              <a:rect l="l" t="t" r="r" b="b"/>
              <a:pathLst>
                <a:path w="19050" h="1457325">
                  <a:moveTo>
                    <a:pt x="19050" y="0"/>
                  </a:moveTo>
                  <a:lnTo>
                    <a:pt x="0" y="0"/>
                  </a:lnTo>
                  <a:lnTo>
                    <a:pt x="0" y="1457325"/>
                  </a:lnTo>
                  <a:lnTo>
                    <a:pt x="19050" y="145732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61153" y="4451159"/>
            <a:ext cx="4086860" cy="129413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Exploratory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Interactive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analytics demo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screenshots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2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Predictive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87176" y="647255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247" y="588263"/>
            <a:ext cx="3010535" cy="11760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655"/>
              </a:spcBef>
            </a:pPr>
            <a:r>
              <a:rPr sz="3950" dirty="0">
                <a:latin typeface="Calibri Light"/>
                <a:cs typeface="Calibri Light"/>
              </a:rPr>
              <a:t>Flight</a:t>
            </a:r>
            <a:r>
              <a:rPr sz="3950" spc="20" dirty="0">
                <a:latin typeface="Calibri Light"/>
                <a:cs typeface="Calibri Light"/>
              </a:rPr>
              <a:t> </a:t>
            </a:r>
            <a:r>
              <a:rPr sz="3950" spc="-10" dirty="0">
                <a:latin typeface="Calibri Light"/>
                <a:cs typeface="Calibri Light"/>
              </a:rPr>
              <a:t>Number </a:t>
            </a:r>
            <a:r>
              <a:rPr sz="3950" dirty="0">
                <a:latin typeface="Calibri Light"/>
                <a:cs typeface="Calibri Light"/>
              </a:rPr>
              <a:t>vs.</a:t>
            </a:r>
            <a:r>
              <a:rPr sz="3950" spc="10" dirty="0">
                <a:latin typeface="Calibri Light"/>
                <a:cs typeface="Calibri Light"/>
              </a:rPr>
              <a:t> </a:t>
            </a:r>
            <a:r>
              <a:rPr sz="3950" dirty="0">
                <a:latin typeface="Calibri Light"/>
                <a:cs typeface="Calibri Light"/>
              </a:rPr>
              <a:t>Launch</a:t>
            </a:r>
            <a:r>
              <a:rPr sz="3950" spc="80" dirty="0">
                <a:latin typeface="Calibri Light"/>
                <a:cs typeface="Calibri Light"/>
              </a:rPr>
              <a:t> </a:t>
            </a:r>
            <a:r>
              <a:rPr sz="3950" spc="-20" dirty="0">
                <a:latin typeface="Calibri Light"/>
                <a:cs typeface="Calibri Light"/>
              </a:rPr>
              <a:t>Site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6719" y="275106"/>
            <a:ext cx="6720840" cy="902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8600">
              <a:lnSpc>
                <a:spcPct val="123100"/>
              </a:lnSpc>
              <a:spcBef>
                <a:spcPts val="130"/>
              </a:spcBef>
              <a:buChar char="•"/>
              <a:tabLst>
                <a:tab pos="241300" algn="l"/>
                <a:tab pos="287020" algn="l"/>
              </a:tabLst>
            </a:pPr>
            <a:r>
              <a:rPr sz="1550" dirty="0">
                <a:latin typeface="Arial MT"/>
                <a:cs typeface="Arial MT"/>
              </a:rPr>
              <a:t>	</a:t>
            </a:r>
            <a:r>
              <a:rPr sz="1550" b="1" dirty="0">
                <a:latin typeface="Calibri"/>
                <a:cs typeface="Calibri"/>
              </a:rPr>
              <a:t>Mixed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Outcomes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at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Major</a:t>
            </a:r>
            <a:r>
              <a:rPr sz="1550" b="1" spc="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Launch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Sites</a:t>
            </a:r>
            <a:r>
              <a:rPr sz="1550" dirty="0">
                <a:latin typeface="Calibri"/>
                <a:cs typeface="Calibri"/>
              </a:rPr>
              <a:t>: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Both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CCAFS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SLC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40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KSC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LC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39A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mix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successful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(orange)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unsuccessful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(blue)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landings,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indicating </a:t>
            </a:r>
            <a:r>
              <a:rPr sz="1550" dirty="0">
                <a:latin typeface="Calibri"/>
                <a:cs typeface="Calibri"/>
              </a:rPr>
              <a:t>that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factors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other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than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itself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may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influence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success.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6719" y="1295209"/>
            <a:ext cx="6689090" cy="89344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1300" marR="5080" indent="-228600">
              <a:lnSpc>
                <a:spcPct val="123100"/>
              </a:lnSpc>
              <a:spcBef>
                <a:spcPts val="5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Consistent</a:t>
            </a:r>
            <a:r>
              <a:rPr sz="1550" b="1" spc="8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Activity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Across</a:t>
            </a:r>
            <a:r>
              <a:rPr sz="1550" b="1" spc="7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Flight</a:t>
            </a:r>
            <a:r>
              <a:rPr sz="1550" b="1" spc="8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Numbers</a:t>
            </a:r>
            <a:r>
              <a:rPr sz="1550" dirty="0">
                <a:latin typeface="Calibri"/>
                <a:cs typeface="Calibri"/>
              </a:rPr>
              <a:t>: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Launches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spread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across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wide </a:t>
            </a:r>
            <a:r>
              <a:rPr sz="1550" dirty="0">
                <a:latin typeface="Calibri"/>
                <a:cs typeface="Calibri"/>
              </a:rPr>
              <a:t>range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flight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numbers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all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sites,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suggesting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consistent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activity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over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time </a:t>
            </a:r>
            <a:r>
              <a:rPr sz="1550" dirty="0">
                <a:latin typeface="Calibri"/>
                <a:cs typeface="Calibri"/>
              </a:rPr>
              <a:t>without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clear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trend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increasing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decreasing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success.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2409825"/>
            <a:ext cx="10915650" cy="37147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247" y="588263"/>
            <a:ext cx="2350770" cy="11760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655"/>
              </a:spcBef>
            </a:pPr>
            <a:r>
              <a:rPr sz="3950" dirty="0">
                <a:latin typeface="Calibri Light"/>
                <a:cs typeface="Calibri Light"/>
              </a:rPr>
              <a:t>Payload</a:t>
            </a:r>
            <a:r>
              <a:rPr sz="3950" spc="-80" dirty="0">
                <a:latin typeface="Calibri Light"/>
                <a:cs typeface="Calibri Light"/>
              </a:rPr>
              <a:t> </a:t>
            </a:r>
            <a:r>
              <a:rPr sz="3950" spc="-25" dirty="0">
                <a:latin typeface="Calibri Light"/>
                <a:cs typeface="Calibri Light"/>
              </a:rPr>
              <a:t>vs. </a:t>
            </a:r>
            <a:r>
              <a:rPr sz="3950" dirty="0">
                <a:latin typeface="Calibri Light"/>
                <a:cs typeface="Calibri Light"/>
              </a:rPr>
              <a:t>Launch</a:t>
            </a:r>
            <a:r>
              <a:rPr sz="3950" spc="45" dirty="0">
                <a:latin typeface="Calibri Light"/>
                <a:cs typeface="Calibri Light"/>
              </a:rPr>
              <a:t> </a:t>
            </a:r>
            <a:r>
              <a:rPr sz="3950" spc="-20" dirty="0">
                <a:latin typeface="Calibri Light"/>
                <a:cs typeface="Calibri Light"/>
              </a:rPr>
              <a:t>Site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6719" y="518731"/>
            <a:ext cx="6626859" cy="14966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marR="5080" indent="-228600">
              <a:lnSpc>
                <a:spcPts val="173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Payload</a:t>
            </a:r>
            <a:r>
              <a:rPr sz="1550" b="1" spc="12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Distribution:</a:t>
            </a:r>
            <a:r>
              <a:rPr sz="1550" b="1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Most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launches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from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CCAFS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SLC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40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handle </a:t>
            </a:r>
            <a:r>
              <a:rPr sz="1550" dirty="0">
                <a:latin typeface="Calibri"/>
                <a:cs typeface="Calibri"/>
              </a:rPr>
              <a:t>payloads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below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10,000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kg,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while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VAFB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SLC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4E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KSC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LC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39A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sites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a </a:t>
            </a:r>
            <a:r>
              <a:rPr sz="1550" dirty="0">
                <a:latin typeface="Calibri"/>
                <a:cs typeface="Calibri"/>
              </a:rPr>
              <a:t>wider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range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masses,</a:t>
            </a:r>
            <a:r>
              <a:rPr sz="1550" spc="1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varied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mission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profiles.</a:t>
            </a:r>
            <a:endParaRPr sz="1550">
              <a:latin typeface="Calibri"/>
              <a:cs typeface="Calibri"/>
            </a:endParaRPr>
          </a:p>
          <a:p>
            <a:pPr marL="238760" marR="25400" indent="-226060" algn="just">
              <a:lnSpc>
                <a:spcPts val="17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High-Capacity</a:t>
            </a:r>
            <a:r>
              <a:rPr sz="1550" b="1" spc="13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Launches:</a:t>
            </a:r>
            <a:r>
              <a:rPr sz="1550" b="1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KSC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LC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39A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frequently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launching 	</a:t>
            </a:r>
            <a:r>
              <a:rPr sz="1550" dirty="0">
                <a:latin typeface="Calibri"/>
                <a:cs typeface="Calibri"/>
              </a:rPr>
              <a:t>heavier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payloads,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with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multiple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launches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carrying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over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15,000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kg,</a:t>
            </a:r>
            <a:r>
              <a:rPr sz="1550" spc="1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suggesting 	</a:t>
            </a:r>
            <a:r>
              <a:rPr sz="1550" dirty="0">
                <a:latin typeface="Calibri"/>
                <a:cs typeface="Calibri"/>
              </a:rPr>
              <a:t>its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suitability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high-capacity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missions.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535" y="2438601"/>
            <a:ext cx="10732528" cy="366672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25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934974"/>
            <a:ext cx="3218180" cy="135318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>
              <a:lnSpc>
                <a:spcPts val="4960"/>
              </a:lnSpc>
              <a:spcBef>
                <a:spcPts val="710"/>
              </a:spcBef>
            </a:pPr>
            <a:r>
              <a:rPr sz="4550" dirty="0">
                <a:solidFill>
                  <a:srgbClr val="000000"/>
                </a:solidFill>
                <a:latin typeface="Calibri Light"/>
                <a:cs typeface="Calibri Light"/>
              </a:rPr>
              <a:t>Success</a:t>
            </a:r>
            <a:r>
              <a:rPr sz="4550" spc="10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550" spc="-20" dirty="0">
                <a:solidFill>
                  <a:srgbClr val="000000"/>
                </a:solidFill>
                <a:latin typeface="Calibri Light"/>
                <a:cs typeface="Calibri Light"/>
              </a:rPr>
              <a:t>Rate </a:t>
            </a:r>
            <a:r>
              <a:rPr sz="4550" dirty="0">
                <a:solidFill>
                  <a:srgbClr val="000000"/>
                </a:solidFill>
                <a:latin typeface="Calibri Light"/>
                <a:cs typeface="Calibri Light"/>
              </a:rPr>
              <a:t>vs.</a:t>
            </a:r>
            <a:r>
              <a:rPr sz="4550" spc="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550" dirty="0">
                <a:solidFill>
                  <a:srgbClr val="000000"/>
                </a:solidFill>
                <a:latin typeface="Calibri Light"/>
                <a:cs typeface="Calibri Light"/>
              </a:rPr>
              <a:t>Orbit</a:t>
            </a:r>
            <a:r>
              <a:rPr sz="4550" spc="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550" spc="-25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endParaRPr sz="45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806128"/>
            <a:ext cx="3241675" cy="28124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marR="347345" indent="-229235">
              <a:lnSpc>
                <a:spcPts val="173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High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Success</a:t>
            </a:r>
            <a:r>
              <a:rPr sz="1550" b="1" spc="10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Rates:</a:t>
            </a:r>
            <a:r>
              <a:rPr sz="1550" b="1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Missions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to </a:t>
            </a:r>
            <a:r>
              <a:rPr sz="1550" dirty="0">
                <a:latin typeface="Calibri"/>
                <a:cs typeface="Calibri"/>
              </a:rPr>
              <a:t>VLEO,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ES-L1,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GEO,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HEO,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SSO</a:t>
            </a:r>
            <a:endParaRPr sz="1550">
              <a:latin typeface="Calibri"/>
              <a:cs typeface="Calibri"/>
            </a:endParaRPr>
          </a:p>
          <a:p>
            <a:pPr marL="241300">
              <a:lnSpc>
                <a:spcPts val="1660"/>
              </a:lnSpc>
            </a:pPr>
            <a:r>
              <a:rPr sz="1550" dirty="0">
                <a:latin typeface="Calibri"/>
                <a:cs typeface="Calibri"/>
              </a:rPr>
              <a:t>orbits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achieved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perfect</a:t>
            </a:r>
            <a:endParaRPr sz="1550">
              <a:latin typeface="Calibri"/>
              <a:cs typeface="Calibri"/>
            </a:endParaRPr>
          </a:p>
          <a:p>
            <a:pPr marL="241300" marR="5080">
              <a:lnSpc>
                <a:spcPts val="1730"/>
              </a:lnSpc>
              <a:spcBef>
                <a:spcPts val="140"/>
              </a:spcBef>
            </a:pP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rate,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these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orbits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highly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reliable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successful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first </a:t>
            </a:r>
            <a:r>
              <a:rPr sz="1550" dirty="0">
                <a:latin typeface="Calibri"/>
                <a:cs typeface="Calibri"/>
              </a:rPr>
              <a:t>stage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landings.</a:t>
            </a:r>
            <a:endParaRPr sz="1550">
              <a:latin typeface="Calibri"/>
              <a:cs typeface="Calibri"/>
            </a:endParaRPr>
          </a:p>
          <a:p>
            <a:pPr marL="241300" marR="55880" indent="-229235">
              <a:lnSpc>
                <a:spcPts val="173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Lower</a:t>
            </a:r>
            <a:r>
              <a:rPr sz="1550" b="1" spc="4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Success</a:t>
            </a:r>
            <a:r>
              <a:rPr sz="1550" b="1" spc="6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Rate</a:t>
            </a:r>
            <a:r>
              <a:rPr sz="1550" b="1" spc="3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for</a:t>
            </a:r>
            <a:r>
              <a:rPr sz="1550" b="1" spc="1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GTO: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The </a:t>
            </a:r>
            <a:r>
              <a:rPr sz="1550" dirty="0">
                <a:latin typeface="Calibri"/>
                <a:cs typeface="Calibri"/>
              </a:rPr>
              <a:t>GTO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type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shows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significantly </a:t>
            </a:r>
            <a:r>
              <a:rPr sz="1550" dirty="0">
                <a:latin typeface="Calibri"/>
                <a:cs typeface="Calibri"/>
              </a:rPr>
              <a:t>lower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compared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to </a:t>
            </a:r>
            <a:r>
              <a:rPr sz="1550" dirty="0">
                <a:latin typeface="Calibri"/>
                <a:cs typeface="Calibri"/>
              </a:rPr>
              <a:t>other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types,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suggesting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that </a:t>
            </a:r>
            <a:r>
              <a:rPr sz="1550" dirty="0">
                <a:latin typeface="Calibri"/>
                <a:cs typeface="Calibri"/>
              </a:rPr>
              <a:t>missions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this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may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involve </a:t>
            </a:r>
            <a:r>
              <a:rPr sz="1550" dirty="0">
                <a:latin typeface="Calibri"/>
                <a:cs typeface="Calibri"/>
              </a:rPr>
              <a:t>greater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challenges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complexities.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8307" y="1458313"/>
            <a:ext cx="6834276" cy="40090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1054480"/>
            <a:ext cx="3085465" cy="123888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705"/>
              </a:spcBef>
            </a:pPr>
            <a:r>
              <a:rPr sz="4200" dirty="0">
                <a:solidFill>
                  <a:srgbClr val="000000"/>
                </a:solidFill>
                <a:latin typeface="Calibri Light"/>
                <a:cs typeface="Calibri Light"/>
              </a:rPr>
              <a:t>Flight</a:t>
            </a:r>
            <a:r>
              <a:rPr sz="4200" spc="-16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200" spc="-10" dirty="0">
                <a:solidFill>
                  <a:srgbClr val="000000"/>
                </a:solidFill>
                <a:latin typeface="Calibri Light"/>
                <a:cs typeface="Calibri Light"/>
              </a:rPr>
              <a:t>Number </a:t>
            </a:r>
            <a:r>
              <a:rPr sz="4200" dirty="0">
                <a:solidFill>
                  <a:srgbClr val="000000"/>
                </a:solidFill>
                <a:latin typeface="Calibri Light"/>
                <a:cs typeface="Calibri Light"/>
              </a:rPr>
              <a:t>vs.</a:t>
            </a:r>
            <a:r>
              <a:rPr sz="4200" spc="-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200" dirty="0">
                <a:solidFill>
                  <a:srgbClr val="000000"/>
                </a:solidFill>
                <a:latin typeface="Calibri Light"/>
                <a:cs typeface="Calibri Light"/>
              </a:rPr>
              <a:t>Orbit</a:t>
            </a:r>
            <a:r>
              <a:rPr sz="420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200" spc="-20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endParaRPr sz="42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806128"/>
            <a:ext cx="3132455" cy="32512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41300" marR="5080" indent="-229235">
              <a:lnSpc>
                <a:spcPct val="93500"/>
              </a:lnSpc>
              <a:spcBef>
                <a:spcPts val="24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Increased</a:t>
            </a:r>
            <a:r>
              <a:rPr sz="1550" b="1" spc="114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Success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Over</a:t>
            </a:r>
            <a:r>
              <a:rPr sz="1550" b="1" spc="9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Time:</a:t>
            </a:r>
            <a:r>
              <a:rPr sz="1550" b="1" spc="16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The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Falcon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9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launches </a:t>
            </a:r>
            <a:r>
              <a:rPr sz="1550" dirty="0">
                <a:latin typeface="Calibri"/>
                <a:cs typeface="Calibri"/>
              </a:rPr>
              <a:t>improves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significantly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with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higher </a:t>
            </a:r>
            <a:r>
              <a:rPr sz="1550" dirty="0">
                <a:latin typeface="Calibri"/>
                <a:cs typeface="Calibri"/>
              </a:rPr>
              <a:t>flight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numbers,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that </a:t>
            </a:r>
            <a:r>
              <a:rPr sz="1550" dirty="0">
                <a:latin typeface="Calibri"/>
                <a:cs typeface="Calibri"/>
              </a:rPr>
              <a:t>experience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iterative </a:t>
            </a:r>
            <a:r>
              <a:rPr sz="1550" dirty="0">
                <a:latin typeface="Calibri"/>
                <a:cs typeface="Calibri"/>
              </a:rPr>
              <a:t>improvements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contribute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better outcomes.</a:t>
            </a:r>
            <a:endParaRPr sz="1550">
              <a:latin typeface="Calibri"/>
              <a:cs typeface="Calibri"/>
            </a:endParaRPr>
          </a:p>
          <a:p>
            <a:pPr marL="241300" marR="56515" indent="-229235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Orbit-Specific</a:t>
            </a:r>
            <a:r>
              <a:rPr sz="1550" b="1" spc="1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Performance:</a:t>
            </a:r>
            <a:r>
              <a:rPr sz="1550" b="1" spc="3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Early </a:t>
            </a:r>
            <a:r>
              <a:rPr sz="1550" dirty="0">
                <a:latin typeface="Calibri"/>
                <a:cs typeface="Calibri"/>
              </a:rPr>
              <a:t>flights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GTO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ISS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orbits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had </a:t>
            </a:r>
            <a:r>
              <a:rPr sz="1550" dirty="0">
                <a:latin typeface="Calibri"/>
                <a:cs typeface="Calibri"/>
              </a:rPr>
              <a:t>mixed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outcomes,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but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recent </a:t>
            </a:r>
            <a:r>
              <a:rPr sz="1550" dirty="0">
                <a:latin typeface="Calibri"/>
                <a:cs typeface="Calibri"/>
              </a:rPr>
              <a:t>missions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these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a </a:t>
            </a:r>
            <a:r>
              <a:rPr sz="1550" dirty="0">
                <a:latin typeface="Calibri"/>
                <a:cs typeface="Calibri"/>
              </a:rPr>
              <a:t>higher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rate,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reflecting </a:t>
            </a:r>
            <a:r>
              <a:rPr sz="1550" dirty="0">
                <a:latin typeface="Calibri"/>
                <a:cs typeface="Calibri"/>
              </a:rPr>
              <a:t>advancements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mission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planning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execution.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6907" y="1446802"/>
            <a:ext cx="6812137" cy="40037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27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695896"/>
            <a:ext cx="3041650" cy="159385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marR="5080">
              <a:lnSpc>
                <a:spcPts val="5860"/>
              </a:lnSpc>
              <a:spcBef>
                <a:spcPts val="820"/>
              </a:spcBef>
            </a:pPr>
            <a:r>
              <a:rPr sz="5400" dirty="0">
                <a:solidFill>
                  <a:srgbClr val="000000"/>
                </a:solidFill>
                <a:latin typeface="Calibri Light"/>
                <a:cs typeface="Calibri Light"/>
              </a:rPr>
              <a:t>Payload</a:t>
            </a:r>
            <a:r>
              <a:rPr sz="5400" spc="-2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5400" spc="-25" dirty="0">
                <a:solidFill>
                  <a:srgbClr val="000000"/>
                </a:solidFill>
                <a:latin typeface="Calibri Light"/>
                <a:cs typeface="Calibri Light"/>
              </a:rPr>
              <a:t>vs. </a:t>
            </a:r>
            <a:r>
              <a:rPr sz="5400" dirty="0">
                <a:solidFill>
                  <a:srgbClr val="000000"/>
                </a:solidFill>
                <a:latin typeface="Calibri Light"/>
                <a:cs typeface="Calibri Light"/>
              </a:rPr>
              <a:t>Orbit</a:t>
            </a:r>
            <a:r>
              <a:rPr sz="5400" spc="-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5400" spc="-20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endParaRPr sz="5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0080" y="2946336"/>
            <a:ext cx="3144520" cy="19354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41300" marR="263525" indent="-228600">
              <a:lnSpc>
                <a:spcPct val="94200"/>
              </a:lnSpc>
              <a:spcBef>
                <a:spcPts val="23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Successful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landings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21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more </a:t>
            </a:r>
            <a:r>
              <a:rPr sz="1550" dirty="0">
                <a:latin typeface="Calibri"/>
                <a:cs typeface="Calibri"/>
              </a:rPr>
              <a:t>frequent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across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all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types, </a:t>
            </a:r>
            <a:r>
              <a:rPr sz="1550" dirty="0">
                <a:latin typeface="Calibri"/>
                <a:cs typeface="Calibri"/>
              </a:rPr>
              <a:t>especially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payloads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less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than </a:t>
            </a:r>
            <a:r>
              <a:rPr sz="1550" dirty="0">
                <a:latin typeface="Calibri"/>
                <a:cs typeface="Calibri"/>
              </a:rPr>
              <a:t>6000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kg.</a:t>
            </a:r>
            <a:endParaRPr sz="1550">
              <a:latin typeface="Calibri"/>
              <a:cs typeface="Calibri"/>
            </a:endParaRPr>
          </a:p>
          <a:p>
            <a:pPr marL="241300" marR="5080" indent="-228600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Higher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masses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(above </a:t>
            </a:r>
            <a:r>
              <a:rPr sz="1550" dirty="0">
                <a:latin typeface="Calibri"/>
                <a:cs typeface="Calibri"/>
              </a:rPr>
              <a:t>10,000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kg)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mix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successes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failures,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increased </a:t>
            </a:r>
            <a:r>
              <a:rPr sz="1550" dirty="0">
                <a:latin typeface="Calibri"/>
                <a:cs typeface="Calibri"/>
              </a:rPr>
              <a:t>difficulty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with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heavier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payloads.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1419" y="1439240"/>
            <a:ext cx="6795017" cy="40246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1164336"/>
            <a:ext cx="3013075" cy="11334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sz="3800" dirty="0">
                <a:solidFill>
                  <a:srgbClr val="000000"/>
                </a:solidFill>
                <a:latin typeface="Calibri Light"/>
                <a:cs typeface="Calibri Light"/>
              </a:rPr>
              <a:t>Launch</a:t>
            </a:r>
            <a:r>
              <a:rPr sz="380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800" spc="-10" dirty="0">
                <a:solidFill>
                  <a:srgbClr val="000000"/>
                </a:solidFill>
                <a:latin typeface="Calibri Light"/>
                <a:cs typeface="Calibri Light"/>
              </a:rPr>
              <a:t>Success </a:t>
            </a:r>
            <a:r>
              <a:rPr sz="3800" spc="-25" dirty="0">
                <a:solidFill>
                  <a:srgbClr val="000000"/>
                </a:solidFill>
                <a:latin typeface="Calibri Light"/>
                <a:cs typeface="Calibri Light"/>
              </a:rPr>
              <a:t>Yearly</a:t>
            </a:r>
            <a:r>
              <a:rPr sz="3800" spc="-1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800" spc="-20" dirty="0">
                <a:solidFill>
                  <a:srgbClr val="000000"/>
                </a:solidFill>
                <a:latin typeface="Calibri Light"/>
                <a:cs typeface="Calibri Light"/>
              </a:rPr>
              <a:t>Trend</a:t>
            </a:r>
            <a:endParaRPr sz="3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806128"/>
            <a:ext cx="3171825" cy="19348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41300" marR="55244" indent="-229235">
              <a:lnSpc>
                <a:spcPct val="94200"/>
              </a:lnSpc>
              <a:spcBef>
                <a:spcPts val="23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The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annual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has </a:t>
            </a:r>
            <a:r>
              <a:rPr sz="1550" dirty="0">
                <a:latin typeface="Calibri"/>
                <a:cs typeface="Calibri"/>
              </a:rPr>
              <a:t>shown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significant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improvement </a:t>
            </a:r>
            <a:r>
              <a:rPr sz="1550" dirty="0">
                <a:latin typeface="Calibri"/>
                <a:cs typeface="Calibri"/>
              </a:rPr>
              <a:t>from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2013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onwards,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reaching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over </a:t>
            </a:r>
            <a:r>
              <a:rPr sz="1550" dirty="0">
                <a:latin typeface="Calibri"/>
                <a:cs typeface="Calibri"/>
              </a:rPr>
              <a:t>80%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by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2020.</a:t>
            </a:r>
            <a:endParaRPr sz="1550">
              <a:latin typeface="Calibri"/>
              <a:cs typeface="Calibri"/>
            </a:endParaRPr>
          </a:p>
          <a:p>
            <a:pPr marL="241300" marR="5080" indent="-229235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Despite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dip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2018,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overall </a:t>
            </a:r>
            <a:r>
              <a:rPr sz="1550" dirty="0">
                <a:latin typeface="Calibri"/>
                <a:cs typeface="Calibri"/>
              </a:rPr>
              <a:t>trend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indicates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increasing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reliability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Falcon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9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launches </a:t>
            </a:r>
            <a:r>
              <a:rPr sz="1550" dirty="0">
                <a:latin typeface="Calibri"/>
                <a:cs typeface="Calibri"/>
              </a:rPr>
              <a:t>over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years.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7935" y="1763780"/>
            <a:ext cx="6825731" cy="330524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29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1724025"/>
            <a:ext cx="10258425" cy="274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44888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All</a:t>
            </a:r>
            <a:r>
              <a:rPr spc="-110" dirty="0"/>
              <a:t> </a:t>
            </a:r>
            <a:r>
              <a:rPr spc="-80" dirty="0"/>
              <a:t>Launch</a:t>
            </a:r>
            <a:r>
              <a:rPr spc="-65" dirty="0"/>
              <a:t> </a:t>
            </a:r>
            <a:r>
              <a:rPr spc="-45" dirty="0"/>
              <a:t>Site</a:t>
            </a:r>
            <a:r>
              <a:rPr spc="-90" dirty="0"/>
              <a:t> </a:t>
            </a:r>
            <a:r>
              <a:rPr spc="-155" dirty="0"/>
              <a:t>Names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30</a:t>
            </a:fld>
            <a:endParaRPr spc="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1714500"/>
            <a:ext cx="10058400" cy="38957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726884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95" dirty="0"/>
              <a:t>Launch</a:t>
            </a:r>
            <a:r>
              <a:rPr spc="-70" dirty="0"/>
              <a:t> </a:t>
            </a:r>
            <a:r>
              <a:rPr spc="-20" dirty="0"/>
              <a:t>Site</a:t>
            </a:r>
            <a:r>
              <a:rPr spc="-30" dirty="0"/>
              <a:t> </a:t>
            </a:r>
            <a:r>
              <a:rPr spc="-170" dirty="0"/>
              <a:t>Names</a:t>
            </a:r>
            <a:r>
              <a:rPr spc="-70" dirty="0"/>
              <a:t> </a:t>
            </a:r>
            <a:r>
              <a:rPr spc="-10" dirty="0"/>
              <a:t>Begin</a:t>
            </a:r>
            <a:r>
              <a:rPr spc="-6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155" dirty="0"/>
              <a:t>'CCA'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31</a:t>
            </a:fld>
            <a:endParaRPr spc="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2085975"/>
            <a:ext cx="10515600" cy="22002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38887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Total</a:t>
            </a:r>
            <a:r>
              <a:rPr spc="-170" dirty="0"/>
              <a:t> </a:t>
            </a:r>
            <a:r>
              <a:rPr spc="-95" dirty="0"/>
              <a:t>Payload</a:t>
            </a:r>
            <a:r>
              <a:rPr spc="-150" dirty="0"/>
              <a:t> </a:t>
            </a:r>
            <a:r>
              <a:rPr spc="-140" dirty="0"/>
              <a:t>Mass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32</a:t>
            </a:fld>
            <a:endParaRPr spc="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2286000"/>
            <a:ext cx="11029950" cy="2276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Average</a:t>
            </a:r>
            <a:r>
              <a:rPr spc="-80" dirty="0"/>
              <a:t> Payload</a:t>
            </a:r>
            <a:r>
              <a:rPr spc="-25" dirty="0"/>
              <a:t> </a:t>
            </a:r>
            <a:r>
              <a:rPr spc="-150" dirty="0"/>
              <a:t>Mass</a:t>
            </a:r>
            <a:r>
              <a:rPr spc="-25" dirty="0"/>
              <a:t> </a:t>
            </a:r>
            <a:r>
              <a:rPr dirty="0"/>
              <a:t>by</a:t>
            </a:r>
            <a:r>
              <a:rPr spc="-20" dirty="0"/>
              <a:t> </a:t>
            </a:r>
            <a:r>
              <a:rPr dirty="0"/>
              <a:t>F9</a:t>
            </a:r>
            <a:r>
              <a:rPr spc="-25" dirty="0"/>
              <a:t> </a:t>
            </a:r>
            <a:r>
              <a:rPr spc="-20" dirty="0"/>
              <a:t>v1.1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33</a:t>
            </a:fld>
            <a:endParaRPr spc="6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1971675"/>
            <a:ext cx="10829925" cy="25336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First</a:t>
            </a:r>
            <a:r>
              <a:rPr spc="-140" dirty="0"/>
              <a:t> </a:t>
            </a:r>
            <a:r>
              <a:rPr spc="-145" dirty="0"/>
              <a:t>Successful</a:t>
            </a:r>
            <a:r>
              <a:rPr spc="-95" dirty="0"/>
              <a:t> </a:t>
            </a:r>
            <a:r>
              <a:rPr spc="-45" dirty="0"/>
              <a:t>Ground</a:t>
            </a:r>
            <a:r>
              <a:rPr spc="-114" dirty="0"/>
              <a:t> </a:t>
            </a:r>
            <a:r>
              <a:rPr dirty="0"/>
              <a:t>Landing</a:t>
            </a:r>
            <a:r>
              <a:rPr spc="-105" dirty="0"/>
              <a:t> </a:t>
            </a:r>
            <a:r>
              <a:rPr spc="-20" dirty="0"/>
              <a:t>Date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34</a:t>
            </a:fld>
            <a:endParaRPr spc="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1714500"/>
            <a:ext cx="10829925" cy="31527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90" dirty="0"/>
              <a:t>Successful</a:t>
            </a:r>
            <a:r>
              <a:rPr sz="2450" spc="-40" dirty="0"/>
              <a:t> </a:t>
            </a:r>
            <a:r>
              <a:rPr sz="2450" dirty="0"/>
              <a:t>Drone</a:t>
            </a:r>
            <a:r>
              <a:rPr sz="2450" spc="-15" dirty="0"/>
              <a:t> </a:t>
            </a:r>
            <a:r>
              <a:rPr sz="2450" spc="-20" dirty="0"/>
              <a:t>Ship</a:t>
            </a:r>
            <a:r>
              <a:rPr sz="2450" spc="-15" dirty="0"/>
              <a:t> </a:t>
            </a:r>
            <a:r>
              <a:rPr sz="2450" dirty="0"/>
              <a:t>Landing</a:t>
            </a:r>
            <a:r>
              <a:rPr sz="2450" spc="-75" dirty="0"/>
              <a:t> </a:t>
            </a:r>
            <a:r>
              <a:rPr sz="2450" dirty="0"/>
              <a:t>with</a:t>
            </a:r>
            <a:r>
              <a:rPr sz="2450" spc="-70" dirty="0"/>
              <a:t> </a:t>
            </a:r>
            <a:r>
              <a:rPr sz="2450" spc="-45" dirty="0"/>
              <a:t>Payload</a:t>
            </a:r>
            <a:r>
              <a:rPr sz="2450" spc="-15" dirty="0"/>
              <a:t> </a:t>
            </a:r>
            <a:r>
              <a:rPr sz="2450" spc="-10" dirty="0"/>
              <a:t>between</a:t>
            </a:r>
            <a:r>
              <a:rPr sz="2450" spc="-15" dirty="0"/>
              <a:t> </a:t>
            </a:r>
            <a:r>
              <a:rPr sz="2450" spc="125" dirty="0"/>
              <a:t>4000</a:t>
            </a:r>
            <a:r>
              <a:rPr sz="2450" spc="25" dirty="0"/>
              <a:t> </a:t>
            </a:r>
            <a:r>
              <a:rPr sz="2450" dirty="0"/>
              <a:t>and</a:t>
            </a:r>
            <a:r>
              <a:rPr sz="2450" spc="-75" dirty="0"/>
              <a:t> </a:t>
            </a:r>
            <a:r>
              <a:rPr sz="2450" spc="120" dirty="0"/>
              <a:t>6000</a:t>
            </a:r>
            <a:endParaRPr sz="24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35</a:t>
            </a:fld>
            <a:endParaRPr spc="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1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-10" dirty="0"/>
              <a:t>Total</a:t>
            </a:r>
            <a:r>
              <a:rPr sz="3050" spc="-40" dirty="0"/>
              <a:t> </a:t>
            </a:r>
            <a:r>
              <a:rPr sz="3050" spc="-35" dirty="0"/>
              <a:t>Number</a:t>
            </a:r>
            <a:r>
              <a:rPr sz="3050" spc="-45" dirty="0"/>
              <a:t> </a:t>
            </a:r>
            <a:r>
              <a:rPr sz="3050" dirty="0"/>
              <a:t>of</a:t>
            </a:r>
            <a:r>
              <a:rPr sz="3050" spc="-70" dirty="0"/>
              <a:t> </a:t>
            </a:r>
            <a:r>
              <a:rPr sz="3050" spc="-114" dirty="0"/>
              <a:t>Successful</a:t>
            </a:r>
            <a:r>
              <a:rPr sz="3050" spc="-90" dirty="0"/>
              <a:t> </a:t>
            </a:r>
            <a:r>
              <a:rPr sz="3050" dirty="0"/>
              <a:t>and</a:t>
            </a:r>
            <a:r>
              <a:rPr sz="3050" spc="-45" dirty="0"/>
              <a:t> </a:t>
            </a:r>
            <a:r>
              <a:rPr sz="3050" spc="-35" dirty="0"/>
              <a:t>Failure</a:t>
            </a:r>
            <a:r>
              <a:rPr sz="3050" spc="-65" dirty="0"/>
              <a:t> </a:t>
            </a:r>
            <a:r>
              <a:rPr sz="3050" spc="-25" dirty="0"/>
              <a:t>Mission</a:t>
            </a:r>
            <a:r>
              <a:rPr sz="3050" spc="-90" dirty="0"/>
              <a:t> </a:t>
            </a:r>
            <a:r>
              <a:rPr sz="3050" spc="-45" dirty="0"/>
              <a:t>Outcomes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" y="1866900"/>
            <a:ext cx="10715625" cy="22669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36</a:t>
            </a:fld>
            <a:endParaRPr spc="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Boosters</a:t>
            </a:r>
            <a:r>
              <a:rPr spc="-145" dirty="0"/>
              <a:t> </a:t>
            </a:r>
            <a:r>
              <a:rPr spc="-65" dirty="0"/>
              <a:t>Carried</a:t>
            </a:r>
            <a:r>
              <a:rPr spc="-155" dirty="0"/>
              <a:t> </a:t>
            </a:r>
            <a:r>
              <a:rPr spc="-90" dirty="0"/>
              <a:t>Maximum</a:t>
            </a:r>
            <a:r>
              <a:rPr spc="-114" dirty="0"/>
              <a:t> </a:t>
            </a:r>
            <a:r>
              <a:rPr spc="-75" dirty="0"/>
              <a:t>Payload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5" y="1571625"/>
            <a:ext cx="9525000" cy="4457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37</a:t>
            </a:fld>
            <a:endParaRPr spc="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0" dirty="0"/>
              <a:t>2015</a:t>
            </a:r>
            <a:r>
              <a:rPr spc="-40" dirty="0"/>
              <a:t> </a:t>
            </a:r>
            <a:r>
              <a:rPr spc="-85" dirty="0"/>
              <a:t>Launch</a:t>
            </a:r>
            <a:r>
              <a:rPr dirty="0"/>
              <a:t> </a:t>
            </a:r>
            <a:r>
              <a:rPr spc="-120" dirty="0"/>
              <a:t>Records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5" y="1295400"/>
            <a:ext cx="9067800" cy="49339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38</a:t>
            </a:fld>
            <a:endParaRPr spc="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5" y="1476375"/>
            <a:ext cx="9515475" cy="46386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9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5" dirty="0"/>
              <a:t>Rank</a:t>
            </a:r>
            <a:r>
              <a:rPr sz="2750" spc="-80" dirty="0"/>
              <a:t> </a:t>
            </a:r>
            <a:r>
              <a:rPr sz="2750" dirty="0"/>
              <a:t>Landing</a:t>
            </a:r>
            <a:r>
              <a:rPr sz="2750" spc="-5" dirty="0"/>
              <a:t> </a:t>
            </a:r>
            <a:r>
              <a:rPr sz="2750" spc="-60" dirty="0"/>
              <a:t>Outcomes</a:t>
            </a:r>
            <a:r>
              <a:rPr sz="2750" spc="-20" dirty="0"/>
              <a:t> </a:t>
            </a:r>
            <a:r>
              <a:rPr sz="2750" spc="-40" dirty="0"/>
              <a:t>Between</a:t>
            </a:r>
            <a:r>
              <a:rPr sz="2750" spc="5" dirty="0"/>
              <a:t> </a:t>
            </a:r>
            <a:r>
              <a:rPr sz="2750" spc="125" dirty="0"/>
              <a:t>2010-</a:t>
            </a:r>
            <a:r>
              <a:rPr sz="2750" spc="110" dirty="0"/>
              <a:t>06-</a:t>
            </a:r>
            <a:r>
              <a:rPr sz="2750" spc="170" dirty="0"/>
              <a:t>04</a:t>
            </a:r>
            <a:r>
              <a:rPr sz="2750" spc="-95" dirty="0"/>
              <a:t> </a:t>
            </a:r>
            <a:r>
              <a:rPr sz="2750" dirty="0"/>
              <a:t>and</a:t>
            </a:r>
            <a:r>
              <a:rPr sz="2750" spc="-65" dirty="0"/>
              <a:t> </a:t>
            </a:r>
            <a:r>
              <a:rPr sz="2750" spc="130" dirty="0"/>
              <a:t>2017-</a:t>
            </a:r>
            <a:r>
              <a:rPr sz="2750" spc="110" dirty="0"/>
              <a:t>03-</a:t>
            </a:r>
            <a:r>
              <a:rPr sz="2750" spc="170" dirty="0"/>
              <a:t>20</a:t>
            </a:r>
            <a:endParaRPr sz="27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39</a:t>
            </a:fld>
            <a:endParaRPr spc="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00162"/>
            <a:ext cx="5008880" cy="4126229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05"/>
              </a:spcBef>
              <a:buClr>
                <a:srgbClr val="292929"/>
              </a:buClr>
              <a:buFont typeface="Calibri"/>
              <a:buAutoNum type="arabicPeriod"/>
              <a:tabLst>
                <a:tab pos="211454" algn="l"/>
              </a:tabLst>
            </a:pP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b="1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b="1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b="1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b="1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b="1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b="1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b="1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b="1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Equator</a:t>
            </a:r>
            <a:r>
              <a:rPr sz="1550" b="1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292929"/>
                </a:solidFill>
                <a:latin typeface="Calibri"/>
                <a:cs typeface="Calibri"/>
              </a:rPr>
              <a:t>line?</a:t>
            </a:r>
            <a:endParaRPr sz="1550">
              <a:latin typeface="Calibri"/>
              <a:cs typeface="Calibri"/>
            </a:endParaRPr>
          </a:p>
          <a:p>
            <a:pPr marL="241300" marR="558165" lvl="1" indent="-229235">
              <a:lnSpc>
                <a:spcPts val="1730"/>
              </a:lnSpc>
              <a:spcBef>
                <a:spcPts val="108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No,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not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Equator.</a:t>
            </a:r>
            <a:endParaRPr sz="1550">
              <a:latin typeface="Calibri"/>
              <a:cs typeface="Calibri"/>
            </a:endParaRPr>
          </a:p>
          <a:p>
            <a:pPr marL="238125" marR="80010" lvl="1" indent="-226060" algn="just">
              <a:lnSpc>
                <a:spcPct val="92800"/>
              </a:lnSpc>
              <a:spcBef>
                <a:spcPts val="94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550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Vandenberg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Air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Force</a:t>
            </a:r>
            <a:r>
              <a:rPr sz="15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Base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(VAFB</a:t>
            </a:r>
            <a:r>
              <a:rPr sz="155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SLC-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4E)</a:t>
            </a:r>
            <a:r>
              <a:rPr sz="1550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located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latitude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34.63,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further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from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Equator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Florida.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1550">
              <a:latin typeface="Calibri"/>
              <a:cs typeface="Calibri"/>
            </a:endParaRPr>
          </a:p>
          <a:p>
            <a:pPr marL="212090" indent="-199390">
              <a:lnSpc>
                <a:spcPct val="100000"/>
              </a:lnSpc>
              <a:buAutoNum type="arabicPeriod" startAt="2"/>
              <a:tabLst>
                <a:tab pos="212090" algn="l"/>
              </a:tabLst>
            </a:pP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b="1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b="1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b="1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b="1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b="1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1550" b="1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b="1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b="1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b="1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b="1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292929"/>
                </a:solidFill>
                <a:latin typeface="Calibri"/>
                <a:cs typeface="Calibri"/>
              </a:rPr>
              <a:t>coast?</a:t>
            </a:r>
            <a:endParaRPr sz="1550">
              <a:latin typeface="Calibri"/>
              <a:cs typeface="Calibri"/>
            </a:endParaRPr>
          </a:p>
          <a:p>
            <a:pPr marL="241300" lvl="1" indent="-228600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Yes,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coast.</a:t>
            </a:r>
            <a:endParaRPr sz="1550">
              <a:latin typeface="Calibri"/>
              <a:cs typeface="Calibri"/>
            </a:endParaRPr>
          </a:p>
          <a:p>
            <a:pPr marL="241300" marR="5080" lvl="1" indent="-229235">
              <a:lnSpc>
                <a:spcPct val="928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Cape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Canaveral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1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(CCAFS</a:t>
            </a:r>
            <a:r>
              <a:rPr sz="15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LC-40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CCAFS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SLC-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40)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Kennedy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Space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Center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(KSC</a:t>
            </a:r>
            <a:r>
              <a:rPr sz="1550" spc="1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LC-39A)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near</a:t>
            </a:r>
            <a:r>
              <a:rPr sz="1550" spc="1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Florida.</a:t>
            </a:r>
            <a:endParaRPr sz="1550">
              <a:latin typeface="Calibri"/>
              <a:cs typeface="Calibri"/>
            </a:endParaRPr>
          </a:p>
          <a:p>
            <a:pPr marL="241300" marR="60960" lvl="1" indent="-229235">
              <a:lnSpc>
                <a:spcPts val="17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Vandenberg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Air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Force</a:t>
            </a:r>
            <a:r>
              <a:rPr sz="155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Base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(VAFB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SLC-4E)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also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near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California.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165" dirty="0">
                <a:solidFill>
                  <a:srgbClr val="005392"/>
                </a:solidFill>
              </a:rPr>
              <a:t>Task</a:t>
            </a:r>
            <a:r>
              <a:rPr sz="3950" spc="-75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1:</a:t>
            </a:r>
            <a:r>
              <a:rPr sz="3950" spc="-70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Mark</a:t>
            </a:r>
            <a:r>
              <a:rPr sz="3950" spc="-5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all</a:t>
            </a:r>
            <a:r>
              <a:rPr sz="3950" spc="-50" dirty="0">
                <a:solidFill>
                  <a:srgbClr val="005392"/>
                </a:solidFill>
              </a:rPr>
              <a:t> launch</a:t>
            </a:r>
            <a:r>
              <a:rPr sz="3950" spc="-65" dirty="0">
                <a:solidFill>
                  <a:srgbClr val="005392"/>
                </a:solidFill>
              </a:rPr>
              <a:t> </a:t>
            </a:r>
            <a:r>
              <a:rPr sz="3950" spc="-10" dirty="0">
                <a:solidFill>
                  <a:srgbClr val="005392"/>
                </a:solidFill>
              </a:rPr>
              <a:t>sites</a:t>
            </a:r>
            <a:r>
              <a:rPr sz="3950" spc="-20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on</a:t>
            </a:r>
            <a:r>
              <a:rPr sz="3950" spc="-20" dirty="0">
                <a:solidFill>
                  <a:srgbClr val="005392"/>
                </a:solidFill>
              </a:rPr>
              <a:t> </a:t>
            </a:r>
            <a:r>
              <a:rPr sz="3950" spc="-265" dirty="0">
                <a:solidFill>
                  <a:srgbClr val="005392"/>
                </a:solidFill>
              </a:rPr>
              <a:t>a</a:t>
            </a:r>
            <a:r>
              <a:rPr sz="3950" spc="5" dirty="0">
                <a:solidFill>
                  <a:srgbClr val="005392"/>
                </a:solidFill>
              </a:rPr>
              <a:t> </a:t>
            </a:r>
            <a:r>
              <a:rPr sz="3950" spc="-25" dirty="0">
                <a:solidFill>
                  <a:srgbClr val="005392"/>
                </a:solidFill>
              </a:rPr>
              <a:t>map</a:t>
            </a:r>
            <a:endParaRPr sz="3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1714500"/>
            <a:ext cx="6096000" cy="3390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16691" y="6113199"/>
            <a:ext cx="27305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41</a:t>
            </a:r>
            <a:endParaRPr sz="1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42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12" y="1511998"/>
            <a:ext cx="4958715" cy="48691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enhanced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visualization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clustered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allows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better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exploration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data.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clustering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makes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it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easier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manage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large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markers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observe patterns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might be hidden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less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organized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plot.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examining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marker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colors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popup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information,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you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gain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deeper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18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characteristics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SpaceX</a:t>
            </a:r>
            <a:r>
              <a:rPr sz="180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180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example,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provided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screenshot,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26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CCAFS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LC-40,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there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19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red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7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green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markers.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color-coding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quickly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rate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other categorical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distinctions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this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site.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 unsuccessful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launches,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while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green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indicate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ones,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providing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immediate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feedback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each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site.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5" dirty="0">
                <a:solidFill>
                  <a:srgbClr val="005392"/>
                </a:solidFill>
              </a:rPr>
              <a:t>Task</a:t>
            </a:r>
            <a:r>
              <a:rPr sz="2750" spc="5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2:</a:t>
            </a:r>
            <a:r>
              <a:rPr sz="2750" spc="-3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Mark</a:t>
            </a:r>
            <a:r>
              <a:rPr sz="2750" spc="-10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the</a:t>
            </a:r>
            <a:r>
              <a:rPr sz="2750" spc="35" dirty="0">
                <a:solidFill>
                  <a:srgbClr val="005392"/>
                </a:solidFill>
              </a:rPr>
              <a:t> </a:t>
            </a:r>
            <a:r>
              <a:rPr sz="2750" spc="-45" dirty="0">
                <a:solidFill>
                  <a:srgbClr val="005392"/>
                </a:solidFill>
              </a:rPr>
              <a:t>success/failed</a:t>
            </a:r>
            <a:r>
              <a:rPr sz="2750" spc="5" dirty="0">
                <a:solidFill>
                  <a:srgbClr val="005392"/>
                </a:solidFill>
              </a:rPr>
              <a:t> </a:t>
            </a:r>
            <a:r>
              <a:rPr sz="2750" spc="-65" dirty="0">
                <a:solidFill>
                  <a:srgbClr val="005392"/>
                </a:solidFill>
              </a:rPr>
              <a:t>launches</a:t>
            </a:r>
            <a:r>
              <a:rPr sz="2750" spc="-1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for</a:t>
            </a:r>
            <a:r>
              <a:rPr sz="2750" spc="20" dirty="0">
                <a:solidFill>
                  <a:srgbClr val="005392"/>
                </a:solidFill>
              </a:rPr>
              <a:t> </a:t>
            </a:r>
            <a:r>
              <a:rPr sz="2750" spc="-75" dirty="0">
                <a:solidFill>
                  <a:srgbClr val="005392"/>
                </a:solidFill>
              </a:rPr>
              <a:t>each</a:t>
            </a:r>
            <a:r>
              <a:rPr sz="2750" spc="2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site</a:t>
            </a:r>
            <a:r>
              <a:rPr sz="2750" spc="3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on</a:t>
            </a:r>
            <a:r>
              <a:rPr sz="2750" spc="20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the</a:t>
            </a:r>
            <a:r>
              <a:rPr sz="2750" spc="30" dirty="0">
                <a:solidFill>
                  <a:srgbClr val="005392"/>
                </a:solidFill>
              </a:rPr>
              <a:t> </a:t>
            </a:r>
            <a:r>
              <a:rPr sz="2750" spc="-25" dirty="0">
                <a:solidFill>
                  <a:srgbClr val="005392"/>
                </a:solidFill>
              </a:rPr>
              <a:t>map</a:t>
            </a:r>
            <a:endParaRPr sz="275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6975" y="1323975"/>
            <a:ext cx="51435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43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797" y="1585912"/>
            <a:ext cx="4267200" cy="27082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65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plot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provides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representation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50" spc="1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distance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CCAFS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SLC-40</a:t>
            </a:r>
            <a:r>
              <a:rPr sz="1550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closest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coastline.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calculated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distance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is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approximately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0.51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kilometers,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indicated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marker.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added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PolyLine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clearly</a:t>
            </a:r>
            <a:r>
              <a:rPr sz="15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shows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straight-line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distance,</a:t>
            </a:r>
            <a:r>
              <a:rPr sz="1550" spc="1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highlighting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coast.</a:t>
            </a:r>
            <a:r>
              <a:rPr sz="155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to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coastline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typical</a:t>
            </a:r>
            <a:r>
              <a:rPr sz="155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facilitate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over-water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flight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paths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safe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recovery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operations,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ensuring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minimal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risk</a:t>
            </a:r>
            <a:r>
              <a:rPr sz="1550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populated areas.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6598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25"/>
              </a:spcBef>
            </a:pPr>
            <a:r>
              <a:rPr sz="2450" spc="-100" dirty="0">
                <a:solidFill>
                  <a:srgbClr val="005392"/>
                </a:solidFill>
              </a:rPr>
              <a:t>Task</a:t>
            </a:r>
            <a:r>
              <a:rPr sz="2450" spc="-2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3: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spc="-60" dirty="0">
                <a:solidFill>
                  <a:srgbClr val="005392"/>
                </a:solidFill>
              </a:rPr>
              <a:t>Calculate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the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spc="-40" dirty="0">
                <a:solidFill>
                  <a:srgbClr val="005392"/>
                </a:solidFill>
              </a:rPr>
              <a:t>distances</a:t>
            </a:r>
            <a:r>
              <a:rPr sz="2450" spc="-35" dirty="0">
                <a:solidFill>
                  <a:srgbClr val="005392"/>
                </a:solidFill>
              </a:rPr>
              <a:t> </a:t>
            </a:r>
            <a:r>
              <a:rPr sz="2450" spc="-10" dirty="0">
                <a:solidFill>
                  <a:srgbClr val="005392"/>
                </a:solidFill>
              </a:rPr>
              <a:t>between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a</a:t>
            </a:r>
            <a:r>
              <a:rPr sz="2450" spc="-20" dirty="0">
                <a:solidFill>
                  <a:srgbClr val="005392"/>
                </a:solidFill>
              </a:rPr>
              <a:t> </a:t>
            </a:r>
            <a:r>
              <a:rPr sz="2450" spc="-30" dirty="0">
                <a:solidFill>
                  <a:srgbClr val="005392"/>
                </a:solidFill>
              </a:rPr>
              <a:t>launch</a:t>
            </a:r>
            <a:r>
              <a:rPr sz="2450" spc="-35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site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to</a:t>
            </a:r>
            <a:r>
              <a:rPr sz="2450" spc="45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its</a:t>
            </a:r>
            <a:r>
              <a:rPr sz="2450" spc="-35" dirty="0">
                <a:solidFill>
                  <a:srgbClr val="005392"/>
                </a:solidFill>
              </a:rPr>
              <a:t> </a:t>
            </a:r>
            <a:r>
              <a:rPr sz="2450" spc="-10" dirty="0">
                <a:solidFill>
                  <a:srgbClr val="005392"/>
                </a:solidFill>
              </a:rPr>
              <a:t>proximities</a:t>
            </a:r>
            <a:endParaRPr sz="2450"/>
          </a:p>
        </p:txBody>
      </p:sp>
      <p:grpSp>
        <p:nvGrpSpPr>
          <p:cNvPr id="5" name="object 5"/>
          <p:cNvGrpSpPr/>
          <p:nvPr/>
        </p:nvGrpSpPr>
        <p:grpSpPr>
          <a:xfrm>
            <a:off x="1762125" y="1276350"/>
            <a:ext cx="9305925" cy="5153025"/>
            <a:chOff x="1762125" y="1276350"/>
            <a:chExt cx="9305925" cy="51530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4950" y="1276350"/>
              <a:ext cx="5753100" cy="34385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2125" y="4705350"/>
              <a:ext cx="9296400" cy="1724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2057" y="543560"/>
            <a:ext cx="2677160" cy="13036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ct val="89700"/>
              </a:lnSpc>
              <a:spcBef>
                <a:spcPts val="475"/>
              </a:spcBef>
            </a:pP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Launch</a:t>
            </a:r>
            <a:r>
              <a:rPr sz="300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spc="-10" dirty="0">
                <a:solidFill>
                  <a:srgbClr val="000000"/>
                </a:solidFill>
                <a:latin typeface="Calibri Light"/>
                <a:cs typeface="Calibri Light"/>
              </a:rPr>
              <a:t>Success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Count</a:t>
            </a:r>
            <a:r>
              <a:rPr sz="300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sz="3000" spc="-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all</a:t>
            </a:r>
            <a:r>
              <a:rPr sz="300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spc="-20" dirty="0">
                <a:solidFill>
                  <a:srgbClr val="000000"/>
                </a:solidFill>
                <a:latin typeface="Calibri Light"/>
                <a:cs typeface="Calibri Light"/>
              </a:rPr>
              <a:t>sites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(in</a:t>
            </a:r>
            <a:r>
              <a:rPr sz="300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300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 Light"/>
                <a:cs typeface="Calibri Light"/>
              </a:rPr>
              <a:t>pie</a:t>
            </a:r>
            <a:r>
              <a:rPr sz="300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spc="-10" dirty="0">
                <a:solidFill>
                  <a:srgbClr val="000000"/>
                </a:solidFill>
                <a:latin typeface="Calibri Light"/>
                <a:cs typeface="Calibri Light"/>
              </a:rPr>
              <a:t>chart)</a:t>
            </a:r>
            <a:endParaRPr sz="3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56454" y="322834"/>
            <a:ext cx="9906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Calibri"/>
                <a:cs typeface="Calibri"/>
              </a:rPr>
              <a:t>Key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Findings</a:t>
            </a:r>
            <a:r>
              <a:rPr sz="1400" spc="-10" dirty="0"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6454" y="534761"/>
            <a:ext cx="6711315" cy="14370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20" dirty="0">
                <a:latin typeface="Calibri"/>
                <a:cs typeface="Calibri"/>
              </a:rPr>
              <a:t> 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29.2%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12.5%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spc="-20" dirty="0">
                <a:latin typeface="Calibri"/>
                <a:cs typeface="Calibri"/>
              </a:rPr>
              <a:t>VAFB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SLC-</a:t>
            </a:r>
            <a:r>
              <a:rPr sz="1200" b="1" dirty="0">
                <a:latin typeface="Calibri"/>
                <a:cs typeface="Calibri"/>
              </a:rPr>
              <a:t>4E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16.7%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b="1" dirty="0">
                <a:latin typeface="Calibri"/>
                <a:cs typeface="Calibri"/>
              </a:rPr>
              <a:t>KSC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LC-</a:t>
            </a:r>
            <a:r>
              <a:rPr sz="1200" b="1" dirty="0">
                <a:latin typeface="Calibri"/>
                <a:cs typeface="Calibri"/>
              </a:rPr>
              <a:t>39A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41.7%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ts val="1245"/>
              </a:lnSpc>
              <a:spcBef>
                <a:spcPts val="590"/>
              </a:spcBef>
              <a:buFont typeface="Arial MT"/>
              <a:buChar char="•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KSC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LC-39A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 has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highest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successful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launches,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making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41.7%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total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ts val="1245"/>
              </a:lnSpc>
            </a:pPr>
            <a:r>
              <a:rPr sz="1200" dirty="0">
                <a:latin typeface="Calibri"/>
                <a:cs typeface="Calibri"/>
              </a:rPr>
              <a:t>successes.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indicates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KSC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LC-</a:t>
            </a:r>
            <a:r>
              <a:rPr sz="1200" dirty="0">
                <a:latin typeface="Calibri"/>
                <a:cs typeface="Calibri"/>
              </a:rPr>
              <a:t>39A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reliable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site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SpaceX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4025" y="2152649"/>
            <a:ext cx="8753475" cy="47053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01451" y="647255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069" y="3613150"/>
            <a:ext cx="2987675" cy="206311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ts val="3910"/>
              </a:lnSpc>
              <a:spcBef>
                <a:spcPts val="575"/>
              </a:spcBef>
            </a:pPr>
            <a:r>
              <a:rPr sz="3600" dirty="0">
                <a:latin typeface="Calibri Light"/>
                <a:cs typeface="Calibri Light"/>
              </a:rPr>
              <a:t>Pie</a:t>
            </a:r>
            <a:r>
              <a:rPr sz="3600" spc="-50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chart</a:t>
            </a:r>
            <a:r>
              <a:rPr sz="3600" spc="-45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for</a:t>
            </a:r>
            <a:r>
              <a:rPr sz="3600" spc="-105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the </a:t>
            </a:r>
            <a:r>
              <a:rPr sz="3600" dirty="0">
                <a:latin typeface="Calibri Light"/>
                <a:cs typeface="Calibri Light"/>
              </a:rPr>
              <a:t>launch</a:t>
            </a:r>
            <a:r>
              <a:rPr sz="3600" spc="-60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site</a:t>
            </a:r>
            <a:r>
              <a:rPr sz="3600" spc="-40" dirty="0">
                <a:latin typeface="Calibri Light"/>
                <a:cs typeface="Calibri Light"/>
              </a:rPr>
              <a:t> </a:t>
            </a:r>
            <a:r>
              <a:rPr sz="3600" spc="-20" dirty="0">
                <a:latin typeface="Calibri Light"/>
                <a:cs typeface="Calibri Light"/>
              </a:rPr>
              <a:t>with </a:t>
            </a:r>
            <a:r>
              <a:rPr sz="3600" dirty="0">
                <a:latin typeface="Calibri Light"/>
                <a:cs typeface="Calibri Light"/>
              </a:rPr>
              <a:t>highest</a:t>
            </a:r>
            <a:r>
              <a:rPr sz="3600" spc="-13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launch </a:t>
            </a:r>
            <a:r>
              <a:rPr sz="3600" dirty="0">
                <a:latin typeface="Calibri Light"/>
                <a:cs typeface="Calibri Light"/>
              </a:rPr>
              <a:t>success</a:t>
            </a:r>
            <a:r>
              <a:rPr sz="3600" spc="-30" dirty="0">
                <a:latin typeface="Calibri Light"/>
                <a:cs typeface="Calibri Light"/>
              </a:rPr>
              <a:t> </a:t>
            </a:r>
            <a:r>
              <a:rPr sz="3600" spc="-20" dirty="0">
                <a:latin typeface="Calibri Light"/>
                <a:cs typeface="Calibri Light"/>
              </a:rPr>
              <a:t>ratio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050" y="0"/>
            <a:ext cx="11537950" cy="3714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96790" y="3573462"/>
            <a:ext cx="10566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Key</a:t>
            </a:r>
            <a:r>
              <a:rPr sz="1500" b="1" spc="-7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Findings</a:t>
            </a:r>
            <a:r>
              <a:rPr sz="1500" spc="-10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55705" y="647255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46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6790" y="3907218"/>
            <a:ext cx="7216140" cy="7981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1650"/>
              </a:lnSpc>
              <a:spcBef>
                <a:spcPts val="28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significant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portion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 </a:t>
            </a:r>
            <a:r>
              <a:rPr sz="1500" spc="-10" dirty="0">
                <a:latin typeface="Calibri"/>
                <a:cs typeface="Calibri"/>
              </a:rPr>
              <a:t>successful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launches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KSC</a:t>
            </a:r>
            <a:r>
              <a:rPr sz="1500" b="1" spc="30" dirty="0">
                <a:latin typeface="Calibri"/>
                <a:cs typeface="Calibri"/>
              </a:rPr>
              <a:t> </a:t>
            </a:r>
            <a:r>
              <a:rPr sz="1500" b="1" spc="-30" dirty="0">
                <a:latin typeface="Calibri"/>
                <a:cs typeface="Calibri"/>
              </a:rPr>
              <a:t>LC-</a:t>
            </a:r>
            <a:r>
              <a:rPr sz="1500" b="1" dirty="0">
                <a:latin typeface="Calibri"/>
                <a:cs typeface="Calibri"/>
              </a:rPr>
              <a:t>39A</a:t>
            </a:r>
            <a:r>
              <a:rPr sz="1500" b="1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highlights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reliability </a:t>
            </a:r>
            <a:r>
              <a:rPr sz="1500" spc="-25" dirty="0">
                <a:latin typeface="Calibri"/>
                <a:cs typeface="Calibri"/>
              </a:rPr>
              <a:t>and </a:t>
            </a:r>
            <a:r>
              <a:rPr sz="1500" spc="-10" dirty="0">
                <a:latin typeface="Calibri"/>
                <a:cs typeface="Calibri"/>
              </a:rPr>
              <a:t>effectiveness</a:t>
            </a:r>
            <a:r>
              <a:rPr sz="1500" dirty="0">
                <a:latin typeface="Calibri"/>
                <a:cs typeface="Calibri"/>
              </a:rPr>
              <a:t> as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launch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site.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For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KSC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b="1" spc="-30" dirty="0">
                <a:latin typeface="Calibri"/>
                <a:cs typeface="Calibri"/>
              </a:rPr>
              <a:t>LC-</a:t>
            </a:r>
            <a:r>
              <a:rPr sz="1500" b="1" spc="-20" dirty="0">
                <a:latin typeface="Calibri"/>
                <a:cs typeface="Calibri"/>
              </a:rPr>
              <a:t>39A</a:t>
            </a:r>
            <a:r>
              <a:rPr sz="1500" spc="-20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4245" y="4680140"/>
            <a:ext cx="3279775" cy="5594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b="1" dirty="0">
                <a:latin typeface="Calibri"/>
                <a:cs typeface="Calibri"/>
              </a:rPr>
              <a:t>Class</a:t>
            </a:r>
            <a:r>
              <a:rPr sz="1500" b="1" spc="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1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(Successful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Launches):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76.9%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b="1" dirty="0">
                <a:latin typeface="Calibri"/>
                <a:cs typeface="Calibri"/>
              </a:rPr>
              <a:t>Class</a:t>
            </a:r>
            <a:r>
              <a:rPr sz="1500" b="1" spc="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0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(Unsuccessful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Launches):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23.1%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6790" y="5319395"/>
            <a:ext cx="6773545" cy="464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172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success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rate (76.9%)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Class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1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launches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underscores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effectiveness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and</a:t>
            </a:r>
            <a:endParaRPr sz="1500">
              <a:latin typeface="Calibri"/>
              <a:cs typeface="Calibri"/>
            </a:endParaRPr>
          </a:p>
          <a:p>
            <a:pPr marL="241300">
              <a:lnSpc>
                <a:spcPts val="1725"/>
              </a:lnSpc>
            </a:pPr>
            <a:r>
              <a:rPr sz="1500" spc="-10" dirty="0">
                <a:latin typeface="Calibri"/>
                <a:cs typeface="Calibri"/>
              </a:rPr>
              <a:t>reliability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KSC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LC-</a:t>
            </a:r>
            <a:r>
              <a:rPr sz="1500" dirty="0">
                <a:latin typeface="Calibri"/>
                <a:cs typeface="Calibri"/>
              </a:rPr>
              <a:t>39A </a:t>
            </a:r>
            <a:r>
              <a:rPr sz="1500" spc="-20" dirty="0">
                <a:latin typeface="Calibri"/>
                <a:cs typeface="Calibri"/>
              </a:rPr>
              <a:t>site.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826135"/>
            <a:ext cx="2983230" cy="14757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35"/>
              </a:spcBef>
            </a:pPr>
            <a:r>
              <a:rPr sz="3350" dirty="0">
                <a:solidFill>
                  <a:srgbClr val="000000"/>
                </a:solidFill>
                <a:latin typeface="Calibri Light"/>
                <a:cs typeface="Calibri Light"/>
              </a:rPr>
              <a:t>Key</a:t>
            </a:r>
            <a:r>
              <a:rPr sz="335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dirty="0">
                <a:solidFill>
                  <a:srgbClr val="000000"/>
                </a:solidFill>
                <a:latin typeface="Calibri Light"/>
                <a:cs typeface="Calibri Light"/>
              </a:rPr>
              <a:t>Insights</a:t>
            </a:r>
            <a:r>
              <a:rPr sz="3350" spc="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spc="-20" dirty="0">
                <a:solidFill>
                  <a:srgbClr val="000000"/>
                </a:solidFill>
                <a:latin typeface="Calibri Light"/>
                <a:cs typeface="Calibri Light"/>
              </a:rPr>
              <a:t>from </a:t>
            </a:r>
            <a:r>
              <a:rPr sz="3350" dirty="0">
                <a:solidFill>
                  <a:srgbClr val="000000"/>
                </a:solidFill>
                <a:latin typeface="Calibri Light"/>
                <a:cs typeface="Calibri Light"/>
              </a:rPr>
              <a:t>SpaceX</a:t>
            </a:r>
            <a:r>
              <a:rPr sz="3350" spc="1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spc="-10" dirty="0">
                <a:solidFill>
                  <a:srgbClr val="000000"/>
                </a:solidFill>
                <a:latin typeface="Calibri Light"/>
                <a:cs typeface="Calibri Light"/>
              </a:rPr>
              <a:t>Launch </a:t>
            </a:r>
            <a:r>
              <a:rPr sz="3350" dirty="0">
                <a:solidFill>
                  <a:srgbClr val="000000"/>
                </a:solidFill>
                <a:latin typeface="Calibri Light"/>
                <a:cs typeface="Calibri Light"/>
              </a:rPr>
              <a:t>Data</a:t>
            </a:r>
            <a:r>
              <a:rPr sz="335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spc="-10" dirty="0">
                <a:solidFill>
                  <a:srgbClr val="000000"/>
                </a:solidFill>
                <a:latin typeface="Calibri Light"/>
                <a:cs typeface="Calibri Light"/>
              </a:rPr>
              <a:t>Dashboard</a:t>
            </a:r>
            <a:endParaRPr sz="33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0407" y="2569019"/>
            <a:ext cx="3255010" cy="22193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b="1" dirty="0">
                <a:latin typeface="Calibri"/>
                <a:cs typeface="Calibri"/>
              </a:rPr>
              <a:t>Launch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Site</a:t>
            </a:r>
            <a:r>
              <a:rPr sz="1200" b="1" spc="-6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Success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Rates:</a:t>
            </a:r>
            <a:endParaRPr sz="1200">
              <a:latin typeface="Calibri"/>
              <a:cs typeface="Calibri"/>
            </a:endParaRPr>
          </a:p>
          <a:p>
            <a:pPr marL="698500" marR="16510" indent="-228600">
              <a:lnSpc>
                <a:spcPts val="1280"/>
              </a:lnSpc>
              <a:spcBef>
                <a:spcPts val="540"/>
              </a:spcBef>
              <a:buFont typeface="Courier New"/>
              <a:buChar char="o"/>
              <a:tabLst>
                <a:tab pos="698500" algn="l"/>
              </a:tabLst>
            </a:pP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LC-</a:t>
            </a:r>
            <a:r>
              <a:rPr sz="1200" b="1" dirty="0">
                <a:latin typeface="Calibri"/>
                <a:cs typeface="Calibri"/>
              </a:rPr>
              <a:t>40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rate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43.7%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successful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launches.</a:t>
            </a:r>
            <a:endParaRPr sz="1200">
              <a:latin typeface="Calibri"/>
              <a:cs typeface="Calibri"/>
            </a:endParaRPr>
          </a:p>
          <a:p>
            <a:pPr marL="698500" marR="5080" indent="-228600">
              <a:lnSpc>
                <a:spcPct val="91200"/>
              </a:lnSpc>
              <a:spcBef>
                <a:spcPts val="470"/>
              </a:spcBef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suggests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most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reliable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among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ones </a:t>
            </a:r>
            <a:r>
              <a:rPr sz="1200" spc="-10" dirty="0">
                <a:latin typeface="Calibri"/>
                <a:cs typeface="Calibri"/>
              </a:rPr>
              <a:t>analyzed.</a:t>
            </a:r>
            <a:endParaRPr sz="1200">
              <a:latin typeface="Calibri"/>
              <a:cs typeface="Calibri"/>
            </a:endParaRPr>
          </a:p>
          <a:p>
            <a:pPr marL="698500" marR="177165" indent="-228600">
              <a:lnSpc>
                <a:spcPct val="90400"/>
              </a:lnSpc>
              <a:spcBef>
                <a:spcPts val="500"/>
              </a:spcBef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KSC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LC-39A,</a:t>
            </a:r>
            <a:r>
              <a:rPr sz="1200" b="1" spc="-20" dirty="0">
                <a:latin typeface="Calibri"/>
                <a:cs typeface="Calibri"/>
              </a:rPr>
              <a:t> VAFB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SLC- </a:t>
            </a:r>
            <a:r>
              <a:rPr sz="1200" b="1" dirty="0">
                <a:latin typeface="Calibri"/>
                <a:cs typeface="Calibri"/>
              </a:rPr>
              <a:t>4E,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lower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-10" dirty="0">
                <a:latin typeface="Calibri"/>
                <a:cs typeface="Calibri"/>
              </a:rPr>
              <a:t> rates,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indicating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variability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 </a:t>
            </a:r>
            <a:r>
              <a:rPr sz="1200" spc="-10" dirty="0">
                <a:latin typeface="Calibri"/>
                <a:cs typeface="Calibri"/>
              </a:rPr>
              <a:t>across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different sites.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b="1" spc="-10" dirty="0">
                <a:latin typeface="Calibri"/>
                <a:cs typeface="Calibri"/>
              </a:rPr>
              <a:t>Booster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Version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Performance: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925" y="4808854"/>
            <a:ext cx="2696210" cy="18205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41300" marR="23495" indent="-228600">
              <a:lnSpc>
                <a:spcPct val="90400"/>
              </a:lnSpc>
              <a:spcBef>
                <a:spcPts val="235"/>
              </a:spcBef>
              <a:buFont typeface="Courier New"/>
              <a:buChar char="o"/>
              <a:tabLst>
                <a:tab pos="241300" algn="l"/>
              </a:tabLst>
            </a:pPr>
            <a:r>
              <a:rPr sz="1200" b="1" spc="-10" dirty="0">
                <a:latin typeface="Calibri"/>
                <a:cs typeface="Calibri"/>
              </a:rPr>
              <a:t>Booster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version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“FT”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appears</a:t>
            </a:r>
            <a:r>
              <a:rPr sz="1200" dirty="0">
                <a:latin typeface="Calibri"/>
                <a:cs typeface="Calibri"/>
              </a:rPr>
              <a:t> to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most frequently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high </a:t>
            </a:r>
            <a:r>
              <a:rPr sz="1200" dirty="0">
                <a:latin typeface="Calibri"/>
                <a:cs typeface="Calibri"/>
              </a:rPr>
              <a:t>success </a:t>
            </a:r>
            <a:r>
              <a:rPr sz="1200" spc="-20" dirty="0">
                <a:latin typeface="Calibri"/>
                <a:cs typeface="Calibri"/>
              </a:rPr>
              <a:t>rate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across </a:t>
            </a:r>
            <a:r>
              <a:rPr sz="1200" spc="-10" dirty="0">
                <a:latin typeface="Calibri"/>
                <a:cs typeface="Calibri"/>
              </a:rPr>
              <a:t>various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payload masses.</a:t>
            </a:r>
            <a:endParaRPr sz="1200">
              <a:latin typeface="Calibri"/>
              <a:cs typeface="Calibri"/>
            </a:endParaRPr>
          </a:p>
          <a:p>
            <a:pPr marL="241300" marR="10795" indent="-228600">
              <a:lnSpc>
                <a:spcPct val="88600"/>
              </a:lnSpc>
              <a:spcBef>
                <a:spcPts val="530"/>
              </a:spcBef>
              <a:buFont typeface="Courier New"/>
              <a:buChar char="o"/>
              <a:tabLst>
                <a:tab pos="241300" algn="l"/>
              </a:tabLst>
            </a:pPr>
            <a:r>
              <a:rPr sz="1200" b="1" spc="-10" dirty="0">
                <a:latin typeface="Calibri"/>
                <a:cs typeface="Calibri"/>
              </a:rPr>
              <a:t>Booster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version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“v1.0”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 </a:t>
            </a:r>
            <a:r>
              <a:rPr sz="1200" spc="-20" dirty="0">
                <a:latin typeface="Calibri"/>
                <a:cs typeface="Calibri"/>
              </a:rPr>
              <a:t>fewer </a:t>
            </a:r>
            <a:r>
              <a:rPr sz="1200" dirty="0">
                <a:latin typeface="Calibri"/>
                <a:cs typeface="Calibri"/>
              </a:rPr>
              <a:t>launches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require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further </a:t>
            </a:r>
            <a:r>
              <a:rPr sz="1200" dirty="0">
                <a:latin typeface="Calibri"/>
                <a:cs typeface="Calibri"/>
              </a:rPr>
              <a:t>analysis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understand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its</a:t>
            </a:r>
            <a:r>
              <a:rPr sz="1200" spc="-10" dirty="0">
                <a:latin typeface="Calibri"/>
                <a:cs typeface="Calibri"/>
              </a:rPr>
              <a:t> performance.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91300"/>
              </a:lnSpc>
              <a:spcBef>
                <a:spcPts val="484"/>
              </a:spcBef>
              <a:buFont typeface="Courier New"/>
              <a:buChar char="o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Overall,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booster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versions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dirty="0">
                <a:latin typeface="Calibri"/>
                <a:cs typeface="Calibri"/>
              </a:rPr>
              <a:t>clear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trend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payload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masses correlate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0" dirty="0">
                <a:latin typeface="Calibri"/>
                <a:cs typeface="Calibri"/>
              </a:rPr>
              <a:t> lower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rates.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4350" y="342900"/>
            <a:ext cx="7724775" cy="6362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01451" y="643445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568388"/>
            <a:ext cx="3329940" cy="147955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5410"/>
              </a:lnSpc>
              <a:spcBef>
                <a:spcPts val="805"/>
              </a:spcBef>
            </a:pPr>
            <a:r>
              <a:rPr sz="5000" spc="-20" dirty="0">
                <a:solidFill>
                  <a:srgbClr val="000000"/>
                </a:solidFill>
                <a:latin typeface="Calibri Light"/>
                <a:cs typeface="Calibri Light"/>
              </a:rPr>
              <a:t>Classification </a:t>
            </a:r>
            <a:r>
              <a:rPr sz="5000" spc="-10" dirty="0">
                <a:solidFill>
                  <a:srgbClr val="000000"/>
                </a:solidFill>
                <a:latin typeface="Calibri Light"/>
                <a:cs typeface="Calibri Light"/>
              </a:rPr>
              <a:t>Accuracy</a:t>
            </a:r>
            <a:endParaRPr sz="5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336387"/>
            <a:ext cx="3286760" cy="86995"/>
            <a:chOff x="628446" y="2336387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360475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355437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650172"/>
            <a:ext cx="4634865" cy="30759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1300" marR="5080" indent="-229235">
              <a:lnSpc>
                <a:spcPct val="922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latin typeface="Calibri"/>
                <a:cs typeface="Calibri"/>
              </a:rPr>
              <a:t>Based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results,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Decision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Tree </a:t>
            </a:r>
            <a:r>
              <a:rPr sz="2150" dirty="0">
                <a:latin typeface="Calibri"/>
                <a:cs typeface="Calibri"/>
              </a:rPr>
              <a:t>model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highest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classification </a:t>
            </a:r>
            <a:r>
              <a:rPr sz="2150" dirty="0">
                <a:latin typeface="Calibri"/>
                <a:cs typeface="Calibri"/>
              </a:rPr>
              <a:t>accuracy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test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data,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achieving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an </a:t>
            </a:r>
            <a:r>
              <a:rPr sz="2150" dirty="0">
                <a:latin typeface="Calibri"/>
                <a:cs typeface="Calibri"/>
              </a:rPr>
              <a:t>accuracy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0.9444.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This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suggests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that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Decision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Tree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model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better </a:t>
            </a:r>
            <a:r>
              <a:rPr sz="2150" dirty="0">
                <a:latin typeface="Calibri"/>
                <a:cs typeface="Calibri"/>
              </a:rPr>
              <a:t>suited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this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dataset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compared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to </a:t>
            </a:r>
            <a:r>
              <a:rPr sz="2150" dirty="0">
                <a:latin typeface="Calibri"/>
                <a:cs typeface="Calibri"/>
              </a:rPr>
              <a:t>Logistic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Regression,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Support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Vector </a:t>
            </a:r>
            <a:r>
              <a:rPr sz="2150" dirty="0">
                <a:latin typeface="Calibri"/>
                <a:cs typeface="Calibri"/>
              </a:rPr>
              <a:t>Machine,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K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Nearest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Neighbors,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all </a:t>
            </a:r>
            <a:r>
              <a:rPr sz="2150" dirty="0">
                <a:latin typeface="Calibri"/>
                <a:cs typeface="Calibri"/>
              </a:rPr>
              <a:t>of which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achieved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accuracy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of </a:t>
            </a:r>
            <a:r>
              <a:rPr sz="2150" spc="-10" dirty="0">
                <a:latin typeface="Calibri"/>
                <a:cs typeface="Calibri"/>
              </a:rPr>
              <a:t>0.8333.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8582" y="1769616"/>
            <a:ext cx="5628079" cy="35337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101451" y="643445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50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484" y="1371187"/>
            <a:ext cx="5690870" cy="493903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Explanation</a:t>
            </a:r>
            <a:r>
              <a:rPr sz="2000" b="1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 Insights</a:t>
            </a:r>
            <a:endParaRPr sz="2000">
              <a:latin typeface="Calibri"/>
              <a:cs typeface="Calibri"/>
            </a:endParaRPr>
          </a:p>
          <a:p>
            <a:pPr marL="241300" marR="17780" indent="-229235">
              <a:lnSpc>
                <a:spcPts val="1730"/>
              </a:lnSpc>
              <a:spcBef>
                <a:spcPts val="1075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High</a:t>
            </a:r>
            <a:r>
              <a:rPr sz="1550" b="1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Accuracy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</a:t>
            </a:r>
            <a:r>
              <a:rPr sz="1550" spc="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achieved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high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accuracy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score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94.44%,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significant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number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true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positives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true</a:t>
            </a:r>
            <a:r>
              <a:rPr sz="1550" spc="1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negatives,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demonstrating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its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effectiveness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predicting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Falcon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9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first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stage landings.</a:t>
            </a:r>
            <a:endParaRPr sz="1550">
              <a:latin typeface="Calibri"/>
              <a:cs typeface="Calibri"/>
            </a:endParaRPr>
          </a:p>
          <a:p>
            <a:pPr marL="241300" marR="5080" indent="-229235">
              <a:lnSpc>
                <a:spcPts val="1730"/>
              </a:lnSpc>
              <a:spcBef>
                <a:spcPts val="965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No</a:t>
            </a:r>
            <a:r>
              <a:rPr sz="1550" b="1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b="1" spc="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Negatives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absence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negatives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indicates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that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525252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reliably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predicts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landings.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This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crucial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525252"/>
                </a:solidFill>
                <a:latin typeface="Calibri"/>
                <a:cs typeface="Calibri"/>
              </a:rPr>
              <a:t>for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ensuring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readiness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safety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aerospace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operations,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as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every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actual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was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accurately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identified.</a:t>
            </a:r>
            <a:endParaRPr sz="1550">
              <a:latin typeface="Calibri"/>
              <a:cs typeface="Calibri"/>
            </a:endParaRPr>
          </a:p>
          <a:p>
            <a:pPr marL="241300" marR="285750" indent="-229235">
              <a:lnSpc>
                <a:spcPts val="1730"/>
              </a:lnSpc>
              <a:spcBef>
                <a:spcPts val="1040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Manageable</a:t>
            </a:r>
            <a:r>
              <a:rPr sz="1550" b="1" spc="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b="1" spc="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Positives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While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there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1</a:t>
            </a:r>
            <a:r>
              <a:rPr sz="1550" spc="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positive,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this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525252"/>
                </a:solidFill>
                <a:latin typeface="Calibri"/>
                <a:cs typeface="Calibri"/>
              </a:rPr>
              <a:t>is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less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critical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than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negatives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aerospace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operations.</a:t>
            </a:r>
            <a:r>
              <a:rPr sz="1550" spc="1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Over-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preparation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(due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positives)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more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manageable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than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under-preparation,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making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20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model's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highly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acceptable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practical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applications.</a:t>
            </a:r>
            <a:endParaRPr sz="1550">
              <a:latin typeface="Calibri"/>
              <a:cs typeface="Calibri"/>
            </a:endParaRPr>
          </a:p>
          <a:p>
            <a:pPr marL="241300" marR="120650" indent="-229235">
              <a:lnSpc>
                <a:spcPts val="1730"/>
              </a:lnSpc>
              <a:spcBef>
                <a:spcPts val="965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Balanced</a:t>
            </a:r>
            <a:r>
              <a:rPr sz="1550" b="1" spc="1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shows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balanced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performance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slight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bias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towards</a:t>
            </a:r>
            <a:r>
              <a:rPr sz="1550" spc="1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predicting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landings.</a:t>
            </a:r>
            <a:r>
              <a:rPr sz="1550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This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aligns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well</a:t>
            </a:r>
            <a:r>
              <a:rPr sz="1550" spc="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practical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needs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aerospace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industry,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where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ensuring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landings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1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paramount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importance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cost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estimation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planning.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3389629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5" dirty="0"/>
              <a:t>Confusion</a:t>
            </a:r>
            <a:r>
              <a:rPr spc="-185" dirty="0"/>
              <a:t> </a:t>
            </a:r>
            <a:r>
              <a:rPr spc="-30" dirty="0"/>
              <a:t>Matrix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0" y="1809750"/>
            <a:ext cx="48196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511617"/>
            <a:ext cx="10356850" cy="38639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88900">
              <a:lnSpc>
                <a:spcPct val="89200"/>
              </a:lnSpc>
              <a:spcBef>
                <a:spcPts val="385"/>
              </a:spcBef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20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20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Our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revealed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"CCAFS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LC-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40"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 has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highest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rate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among</a:t>
            </a:r>
            <a:r>
              <a:rPr sz="20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sites,</a:t>
            </a:r>
            <a:r>
              <a:rPr sz="20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accounting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43.7%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indicates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have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optimal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conditions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20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processes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contribute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rate.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000">
              <a:latin typeface="Calibri"/>
              <a:cs typeface="Calibri"/>
            </a:endParaRPr>
          </a:p>
          <a:p>
            <a:pPr marL="12700" marR="44450">
              <a:lnSpc>
                <a:spcPct val="89700"/>
              </a:lnSpc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20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20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scatter plot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showed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"FT"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version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has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rate</a:t>
            </a:r>
            <a:r>
              <a:rPr sz="200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various</a:t>
            </a:r>
            <a:r>
              <a:rPr sz="20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masses,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demonstrating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its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reliability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robustness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other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versions.</a:t>
            </a:r>
            <a:r>
              <a:rPr sz="20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suggests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future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missions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benefit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utilizing</a:t>
            </a:r>
            <a:r>
              <a:rPr sz="20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version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improved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rates.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90800"/>
              </a:lnSpc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20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20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No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clear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pattern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was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observed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linking</a:t>
            </a:r>
            <a:r>
              <a:rPr sz="20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higher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masses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lower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rates,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indicating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factors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than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mass,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conditions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versions,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play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more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significant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role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determining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outcome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launch.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51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Conclusions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177165">
              <a:lnSpc>
                <a:spcPct val="89700"/>
              </a:lnSpc>
              <a:spcBef>
                <a:spcPts val="375"/>
              </a:spcBef>
            </a:pPr>
            <a:r>
              <a:rPr b="1" dirty="0">
                <a:latin typeface="Calibri"/>
                <a:cs typeface="Calibri"/>
              </a:rPr>
              <a:t>Point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4: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spc="-10" dirty="0"/>
              <a:t>Interactive</a:t>
            </a:r>
            <a:r>
              <a:rPr spc="-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visualizations</a:t>
            </a:r>
            <a:r>
              <a:rPr spc="-15" dirty="0"/>
              <a:t> </a:t>
            </a:r>
            <a:r>
              <a:rPr dirty="0"/>
              <a:t>using</a:t>
            </a:r>
            <a:r>
              <a:rPr spc="-95" dirty="0"/>
              <a:t> </a:t>
            </a:r>
            <a:r>
              <a:rPr dirty="0"/>
              <a:t>Folium</a:t>
            </a:r>
            <a:r>
              <a:rPr spc="-1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Plotly</a:t>
            </a:r>
            <a:r>
              <a:rPr spc="-45" dirty="0"/>
              <a:t> </a:t>
            </a:r>
            <a:r>
              <a:rPr dirty="0"/>
              <a:t>Dash</a:t>
            </a:r>
            <a:r>
              <a:rPr spc="-55" dirty="0"/>
              <a:t> </a:t>
            </a:r>
            <a:r>
              <a:rPr spc="-10" dirty="0"/>
              <a:t>provided</a:t>
            </a:r>
            <a:r>
              <a:rPr spc="-55" dirty="0"/>
              <a:t> </a:t>
            </a:r>
            <a:r>
              <a:rPr dirty="0"/>
              <a:t>valuable</a:t>
            </a:r>
            <a:r>
              <a:rPr spc="-75" dirty="0"/>
              <a:t> </a:t>
            </a:r>
            <a:r>
              <a:rPr spc="-10" dirty="0"/>
              <a:t>insights</a:t>
            </a:r>
            <a:r>
              <a:rPr spc="-85" dirty="0"/>
              <a:t> </a:t>
            </a:r>
            <a:r>
              <a:rPr spc="-20" dirty="0"/>
              <a:t>into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geographical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operational</a:t>
            </a:r>
            <a:r>
              <a:rPr spc="-35" dirty="0"/>
              <a:t> </a:t>
            </a:r>
            <a:r>
              <a:rPr spc="-10" dirty="0"/>
              <a:t>patterns</a:t>
            </a:r>
            <a:r>
              <a:rPr spc="-6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SpaceX</a:t>
            </a:r>
            <a:r>
              <a:rPr spc="-20" dirty="0"/>
              <a:t> </a:t>
            </a:r>
            <a:r>
              <a:rPr dirty="0"/>
              <a:t>launches.</a:t>
            </a:r>
            <a:r>
              <a:rPr spc="-10" dirty="0"/>
              <a:t> </a:t>
            </a:r>
            <a:r>
              <a:rPr dirty="0"/>
              <a:t>These</a:t>
            </a:r>
            <a:r>
              <a:rPr spc="-50" dirty="0"/>
              <a:t> </a:t>
            </a:r>
            <a:r>
              <a:rPr dirty="0"/>
              <a:t>tools</a:t>
            </a:r>
            <a:r>
              <a:rPr spc="-60" dirty="0"/>
              <a:t> </a:t>
            </a:r>
            <a:r>
              <a:rPr dirty="0"/>
              <a:t>allowed</a:t>
            </a:r>
            <a:r>
              <a:rPr spc="-40" dirty="0"/>
              <a:t> </a:t>
            </a:r>
            <a:r>
              <a:rPr spc="-10" dirty="0"/>
              <a:t>for</a:t>
            </a:r>
            <a:r>
              <a:rPr spc="-50" dirty="0"/>
              <a:t> </a:t>
            </a:r>
            <a:r>
              <a:rPr dirty="0"/>
              <a:t>a</a:t>
            </a:r>
            <a:r>
              <a:rPr spc="-10" dirty="0"/>
              <a:t> deeper understanding</a:t>
            </a:r>
            <a:r>
              <a:rPr spc="-2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data,</a:t>
            </a:r>
            <a:r>
              <a:rPr spc="-15" dirty="0"/>
              <a:t> </a:t>
            </a:r>
            <a:r>
              <a:rPr dirty="0"/>
              <a:t>enabling</a:t>
            </a:r>
            <a:r>
              <a:rPr spc="-15" dirty="0"/>
              <a:t> </a:t>
            </a:r>
            <a:r>
              <a:rPr spc="-20" dirty="0"/>
              <a:t>stakeholders</a:t>
            </a:r>
            <a:r>
              <a:rPr spc="-7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make</a:t>
            </a:r>
            <a:r>
              <a:rPr spc="5" dirty="0"/>
              <a:t> </a:t>
            </a:r>
            <a:r>
              <a:rPr spc="-10" dirty="0"/>
              <a:t>informed</a:t>
            </a:r>
            <a:r>
              <a:rPr spc="-45" dirty="0"/>
              <a:t> </a:t>
            </a:r>
            <a:r>
              <a:rPr dirty="0"/>
              <a:t>decisions</a:t>
            </a:r>
            <a:r>
              <a:rPr spc="-70" dirty="0"/>
              <a:t> </a:t>
            </a:r>
            <a:r>
              <a:rPr dirty="0"/>
              <a:t>based</a:t>
            </a:r>
            <a:r>
              <a:rPr spc="-45" dirty="0"/>
              <a:t> </a:t>
            </a:r>
            <a:r>
              <a:rPr spc="-25" dirty="0"/>
              <a:t>on </a:t>
            </a:r>
            <a:r>
              <a:rPr spc="-10" dirty="0"/>
              <a:t>comprehensive</a:t>
            </a:r>
            <a:r>
              <a:rPr spc="-60" dirty="0"/>
              <a:t> </a:t>
            </a:r>
            <a:r>
              <a:rPr dirty="0"/>
              <a:t>visual</a:t>
            </a:r>
            <a:r>
              <a:rPr spc="30" dirty="0"/>
              <a:t> </a:t>
            </a:r>
            <a:r>
              <a:rPr spc="-10" dirty="0"/>
              <a:t>analytics.</a:t>
            </a: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pc="-10" dirty="0"/>
          </a:p>
          <a:p>
            <a:pPr marL="12700" marR="5080">
              <a:lnSpc>
                <a:spcPct val="100000"/>
              </a:lnSpc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conclusion,</a:t>
            </a:r>
            <a:r>
              <a:rPr spc="-20" dirty="0"/>
              <a:t> </a:t>
            </a:r>
            <a:r>
              <a:rPr dirty="0"/>
              <a:t>our</a:t>
            </a:r>
            <a:r>
              <a:rPr spc="-60" dirty="0"/>
              <a:t> </a:t>
            </a:r>
            <a:r>
              <a:rPr spc="-10" dirty="0"/>
              <a:t>predictive</a:t>
            </a:r>
            <a:r>
              <a:rPr spc="-65" dirty="0"/>
              <a:t> </a:t>
            </a:r>
            <a:r>
              <a:rPr dirty="0"/>
              <a:t>analysis</a:t>
            </a:r>
            <a:r>
              <a:rPr spc="-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interactive</a:t>
            </a:r>
            <a:r>
              <a:rPr spc="5" dirty="0"/>
              <a:t> </a:t>
            </a:r>
            <a:r>
              <a:rPr spc="-10" dirty="0"/>
              <a:t>visualizations</a:t>
            </a:r>
            <a:r>
              <a:rPr spc="-5" dirty="0"/>
              <a:t> </a:t>
            </a:r>
            <a:r>
              <a:rPr spc="-10" dirty="0"/>
              <a:t>have</a:t>
            </a:r>
            <a:r>
              <a:rPr spc="-6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only</a:t>
            </a:r>
            <a:r>
              <a:rPr spc="-50" dirty="0"/>
              <a:t> </a:t>
            </a:r>
            <a:r>
              <a:rPr dirty="0"/>
              <a:t>shed</a:t>
            </a:r>
            <a:r>
              <a:rPr spc="-40" dirty="0"/>
              <a:t> </a:t>
            </a:r>
            <a:r>
              <a:rPr dirty="0"/>
              <a:t>light</a:t>
            </a:r>
            <a:r>
              <a:rPr spc="-40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25" dirty="0"/>
              <a:t>key </a:t>
            </a:r>
            <a:r>
              <a:rPr spc="-10" dirty="0"/>
              <a:t>factors</a:t>
            </a:r>
            <a:r>
              <a:rPr spc="-30" dirty="0"/>
              <a:t> </a:t>
            </a:r>
            <a:r>
              <a:rPr dirty="0"/>
              <a:t>influencing</a:t>
            </a:r>
            <a:r>
              <a:rPr spc="-40" dirty="0"/>
              <a:t> </a:t>
            </a:r>
            <a:r>
              <a:rPr dirty="0"/>
              <a:t>SpaceX's</a:t>
            </a:r>
            <a:r>
              <a:rPr spc="-25" dirty="0"/>
              <a:t> </a:t>
            </a:r>
            <a:r>
              <a:rPr dirty="0"/>
              <a:t>launch</a:t>
            </a:r>
            <a:r>
              <a:rPr spc="-70" dirty="0"/>
              <a:t> </a:t>
            </a:r>
            <a:r>
              <a:rPr dirty="0"/>
              <a:t>success</a:t>
            </a:r>
            <a:r>
              <a:rPr spc="-90" dirty="0"/>
              <a:t> </a:t>
            </a:r>
            <a:r>
              <a:rPr dirty="0"/>
              <a:t>but</a:t>
            </a:r>
            <a:r>
              <a:rPr spc="-60" dirty="0"/>
              <a:t> </a:t>
            </a:r>
            <a:r>
              <a:rPr dirty="0"/>
              <a:t>also</a:t>
            </a:r>
            <a:r>
              <a:rPr spc="-70" dirty="0"/>
              <a:t> </a:t>
            </a:r>
            <a:r>
              <a:rPr spc="-10" dirty="0"/>
              <a:t>provided</a:t>
            </a:r>
            <a:r>
              <a:rPr spc="-6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robust</a:t>
            </a:r>
            <a:r>
              <a:rPr spc="-55" dirty="0"/>
              <a:t> </a:t>
            </a:r>
            <a:r>
              <a:rPr dirty="0"/>
              <a:t>framework</a:t>
            </a:r>
            <a:r>
              <a:rPr spc="-7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spc="-10" dirty="0"/>
              <a:t>future </a:t>
            </a:r>
            <a:r>
              <a:rPr dirty="0"/>
              <a:t>assessments</a:t>
            </a:r>
            <a:r>
              <a:rPr spc="-6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decision-</a:t>
            </a:r>
            <a:r>
              <a:rPr dirty="0"/>
              <a:t>making</a:t>
            </a:r>
            <a:r>
              <a:rPr spc="-7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aerospace</a:t>
            </a:r>
            <a:r>
              <a:rPr spc="20" dirty="0"/>
              <a:t> </a:t>
            </a:r>
            <a:r>
              <a:rPr spc="-25" dirty="0"/>
              <a:t>industry.</a:t>
            </a:r>
            <a:r>
              <a:rPr spc="-7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insights</a:t>
            </a:r>
            <a:r>
              <a:rPr spc="-60" dirty="0"/>
              <a:t> </a:t>
            </a:r>
            <a:r>
              <a:rPr spc="-10" dirty="0"/>
              <a:t>gathered</a:t>
            </a:r>
            <a:r>
              <a:rPr spc="-35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help</a:t>
            </a:r>
            <a:r>
              <a:rPr spc="-35" dirty="0"/>
              <a:t> </a:t>
            </a:r>
            <a:r>
              <a:rPr spc="-10" dirty="0"/>
              <a:t>improve </a:t>
            </a:r>
            <a:r>
              <a:rPr dirty="0"/>
              <a:t>launch</a:t>
            </a:r>
            <a:r>
              <a:rPr spc="-65" dirty="0"/>
              <a:t> </a:t>
            </a:r>
            <a:r>
              <a:rPr spc="-10" dirty="0"/>
              <a:t>strategies</a:t>
            </a:r>
            <a:r>
              <a:rPr spc="-9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contribute</a:t>
            </a:r>
            <a:r>
              <a:rPr spc="-2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ongoing</a:t>
            </a:r>
            <a:r>
              <a:rPr spc="-40" dirty="0"/>
              <a:t> </a:t>
            </a:r>
            <a:r>
              <a:rPr dirty="0"/>
              <a:t>success</a:t>
            </a:r>
            <a:r>
              <a:rPr spc="-9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reusable</a:t>
            </a:r>
            <a:r>
              <a:rPr spc="-20" dirty="0"/>
              <a:t> rocket</a:t>
            </a:r>
            <a:r>
              <a:rPr spc="-55" dirty="0"/>
              <a:t> </a:t>
            </a:r>
            <a:r>
              <a:rPr spc="-10" dirty="0"/>
              <a:t>technology.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52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Conclusions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3982</Words>
  <Application>Microsoft Office PowerPoint</Application>
  <PresentationFormat>Widescreen</PresentationFormat>
  <Paragraphs>448</Paragraphs>
  <Slides>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9" baseType="lpstr">
      <vt:lpstr>Arial MT</vt:lpstr>
      <vt:lpstr>Calibri</vt:lpstr>
      <vt:lpstr>Calibri Light</vt:lpstr>
      <vt:lpstr>Courier New</vt:lpstr>
      <vt:lpstr>Microsoft Sans Serif</vt:lpstr>
      <vt:lpstr>Office Theme</vt:lpstr>
      <vt:lpstr>Apresentação do PowerPoint</vt:lpstr>
      <vt:lpstr>Outline</vt:lpstr>
      <vt:lpstr>Executive Summary</vt:lpstr>
      <vt:lpstr>Introduction</vt:lpstr>
      <vt:lpstr>Apresentação do PowerPoint</vt:lpstr>
      <vt:lpstr>Methodology</vt:lpstr>
      <vt:lpstr>Methodology</vt:lpstr>
      <vt:lpstr>Data Collection</vt:lpstr>
      <vt:lpstr>Data Collection – SpaceX API</vt:lpstr>
      <vt:lpstr>Data Collection - Scraping</vt:lpstr>
      <vt:lpstr>Data Wrangling</vt:lpstr>
      <vt:lpstr>Data Wrangling</vt:lpstr>
      <vt:lpstr>Data Wrangling Flowchart</vt:lpstr>
      <vt:lpstr>EDA with Data Visualization</vt:lpstr>
      <vt:lpstr>EDA with Data Visualization</vt:lpstr>
      <vt:lpstr>EDA with SQL</vt:lpstr>
      <vt:lpstr>Build an Interactive Map with Folium</vt:lpstr>
      <vt:lpstr>Build a Dashboard with Plotly Dash</vt:lpstr>
      <vt:lpstr>Reasons for Adding Plots and Interactions</vt:lpstr>
      <vt:lpstr>Predictive Analysis (Classification)</vt:lpstr>
      <vt:lpstr>Predictive Analysis (Flowchart)</vt:lpstr>
      <vt:lpstr>Apresentação do PowerPoint</vt:lpstr>
      <vt:lpstr>Apresentação do PowerPoint</vt:lpstr>
      <vt:lpstr>Apresentação do PowerPoint</vt:lpstr>
      <vt:lpstr>Apresentação do PowerPoint</vt:lpstr>
      <vt:lpstr>Success Rate vs. Orbit Type</vt:lpstr>
      <vt:lpstr>Flight Number vs. Orbit Type</vt:lpstr>
      <vt:lpstr>Payload vs. Orbit Type</vt:lpstr>
      <vt:lpstr>Launch Success Yearly Trend</vt:lpstr>
      <vt:lpstr>All Launch Site Names</vt:lpstr>
      <vt:lpstr>Launch Site Names Begin with 'CCA'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Apresentação do PowerPoint</vt:lpstr>
      <vt:lpstr>Task 1: Mark all launch sites on a map</vt:lpstr>
      <vt:lpstr>Task 2: Mark the success/failed launches for each site on the map</vt:lpstr>
      <vt:lpstr>Task 3: Calculate the distances between a launch site to its proximities</vt:lpstr>
      <vt:lpstr>Apresentação do PowerPoint</vt:lpstr>
      <vt:lpstr>Launch Success Count for all sites (in a pie chart)</vt:lpstr>
      <vt:lpstr>Apresentação do PowerPoint</vt:lpstr>
      <vt:lpstr>Key Insights from SpaceX Launch Data Dashboard</vt:lpstr>
      <vt:lpstr>Apresentação do PowerPoint</vt:lpstr>
      <vt:lpstr>Classification Accuracy</vt:lpstr>
      <vt:lpstr>Confusion Matrix</vt:lpstr>
      <vt:lpstr>Conclusions</vt:lpstr>
      <vt:lpstr>Conclusions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 Souza Cunha, Juarez (ext)</cp:lastModifiedBy>
  <cp:revision>2</cp:revision>
  <dcterms:created xsi:type="dcterms:W3CDTF">2026-05-27T21:38:42Z</dcterms:created>
  <dcterms:modified xsi:type="dcterms:W3CDTF">2026-05-27T21:46:42Z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LastSaved">
    <vt:filetime>2026-05-27T00:00:00Z</vt:filetime>
  </property>
</Properties>
</file>